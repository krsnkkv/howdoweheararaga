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Seg Accuracy</c:v>
                </c:pt>
              </c:strCache>
            </c:strRef>
          </c:tx>
          <c:spPr>
            <a:solidFill>
              <a:srgbClr val="1B6B7D"/>
            </a:solidFill>
            <a:effectLst/>
          </c:spPr>
          <c:invertIfNegative val="0"/>
          <c:dLbls>
            <c:numFmt formatCode="#,##0" sourceLinked="0"/>
            <c:txPr>
              <a:bodyPr/>
              <a:lstStyle/>
              <a:p>
                <a:pPr>
                  <a:defRPr b="0" i="0" strike="noStrike" sz="900" u="none">
                    <a:solidFill>
                      <a:srgbClr val="2C2C2C"/>
                    </a:solidFill>
                    <a:latin typeface="Arial"/>
                  </a:defRPr>
                </a:pPr>
              </a:p>
            </c:txPr>
            <c:showLegendKey val="0"/>
            <c:showVal val="1"/>
            <c:showCatName val="0"/>
            <c:showSerName val="0"/>
            <c:showPercent val="0"/>
            <c:showBubbleSize val="0"/>
            <c:showLeaderLines val="0"/>
          </c:dLbls>
          <c:cat>
            <c:multiLvlStrRef>
              <c:f>Sheet1!$A$2:$A$8</c:f>
              <c:multiLvlStrCache>
                <c:ptCount val="7"/>
                <c:lvl>
                  <c:pt idx="0">
                    <c:v>16d
dwell</c:v>
                  </c:pt>
                  <c:pt idx="1">
                    <c:v>120d
pcd</c:v>
                  </c:pt>
                  <c:pt idx="2">
                    <c:v>200d
trigram</c:v>
                  </c:pt>
                  <c:pt idx="3">
                    <c:v>216d
tri+dwell</c:v>
                  </c:pt>
                  <c:pt idx="4">
                    <c:v>320d
+pcd</c:v>
                  </c:pt>
                  <c:pt idx="5">
                    <c:v>330d
+aux</c:v>
                  </c:pt>
                  <c:pt idx="6">
                    <c:v>418d
dir_full</c:v>
                  </c:pt>
                </c:lvl>
              </c:multiLvlStrCache>
            </c:multiLvlStrRef>
          </c:cat>
          <c:val>
            <c:numRef>
              <c:f>Sheet1!$B$2:$B$8</c:f>
              <c:numCache>
                <c:formatCode>General</c:formatCode>
                <c:ptCount val="7"/>
                <c:pt idx="0">
                  <c:v>0.5297</c:v>
                </c:pt>
                <c:pt idx="1">
                  <c:v>0.5059</c:v>
                </c:pt>
                <c:pt idx="2">
                  <c:v>0.5795</c:v>
                </c:pt>
                <c:pt idx="3">
                  <c:v>0.6018</c:v>
                </c:pt>
                <c:pt idx="4">
                  <c:v>0.5676</c:v>
                </c:pt>
                <c:pt idx="5">
                  <c:v>0.5586</c:v>
                </c:pt>
                <c:pt idx="6">
                  <c:v>0.551</c:v>
                </c:pt>
              </c:numCache>
            </c:numRef>
          </c:val>
        </c:ser>
        <c:dLbls>
          <c:numFmt formatCode="#,##0" sourceLinked="0"/>
          <c:txPr>
            <a:bodyPr/>
            <a:lstStyle/>
            <a:p>
              <a:pPr>
                <a:defRPr b="0" i="0" strike="noStrike" sz="900" u="none">
                  <a:solidFill>
                    <a:srgbClr val="2C2C2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max val="0.65"/>
          <c:min val="0.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731520" y="1097280"/>
            <a:ext cx="7680960" cy="109728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How Do We Hear a Rāga?</a:t>
            </a:r>
            <a:endParaRPr lang="en-US" sz="4200" dirty="0"/>
          </a:p>
        </p:txBody>
      </p:sp>
      <p:sp>
        <p:nvSpPr>
          <p:cNvPr id="4" name="Text 2"/>
          <p:cNvSpPr/>
          <p:nvPr/>
        </p:nvSpPr>
        <p:spPr>
          <a:xfrm>
            <a:off x="731520" y="2194560"/>
            <a:ext cx="7680960" cy="548640"/>
          </a:xfrm>
          <a:prstGeom prst="rect">
            <a:avLst/>
          </a:prstGeom>
          <a:noFill/>
          <a:ln/>
        </p:spPr>
        <p:txBody>
          <a:bodyPr wrap="square" rtlCol="0" anchor="ctr"/>
          <a:lstStyle/>
          <a:p>
            <a:pPr indent="0" marL="0">
              <a:buNone/>
            </a:pPr>
            <a:r>
              <a:rPr lang="en-US" sz="2000" i="1" dirty="0">
                <a:solidFill>
                  <a:srgbClr val="FFFFFF"/>
                </a:solidFill>
                <a:latin typeface="Calibri" pitchFamily="34" charset="0"/>
                <a:ea typeface="Calibri" pitchFamily="34" charset="-122"/>
                <a:cs typeface="Calibri" pitchFamily="34" charset="-120"/>
              </a:rPr>
              <a:t>An Interpretable Cognitive Model of Melodic Recognition</a:t>
            </a:r>
            <a:endParaRPr lang="en-US" sz="2000" dirty="0"/>
          </a:p>
        </p:txBody>
      </p:sp>
      <p:sp>
        <p:nvSpPr>
          <p:cNvPr id="5" name="Text 3"/>
          <p:cNvSpPr/>
          <p:nvPr/>
        </p:nvSpPr>
        <p:spPr>
          <a:xfrm>
            <a:off x="731520" y="3291840"/>
            <a:ext cx="7680960" cy="45720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Week 6 (Consolidation Week) Updates</a:t>
            </a:r>
            <a:endParaRPr lang="en-US" sz="1400" dirty="0"/>
          </a:p>
        </p:txBody>
      </p:sp>
      <p:sp>
        <p:nvSpPr>
          <p:cNvPr id="6" name="Shape 4"/>
          <p:cNvSpPr/>
          <p:nvPr/>
        </p:nvSpPr>
        <p:spPr>
          <a:xfrm>
            <a:off x="0" y="4846320"/>
            <a:ext cx="9144000" cy="297180"/>
          </a:xfrm>
          <a:prstGeom prst="rect">
            <a:avLst/>
          </a:prstGeom>
          <a:solidFill>
            <a:srgbClr val="1B6B7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B"/>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200" b="1" dirty="0">
                <a:solidFill>
                  <a:srgbClr val="1A2744"/>
                </a:solidFill>
                <a:latin typeface="Georgia" pitchFamily="34" charset="0"/>
                <a:ea typeface="Georgia" pitchFamily="34" charset="-122"/>
                <a:cs typeface="Georgia" pitchFamily="34" charset="-120"/>
              </a:rPr>
              <a:t>Project Overview</a:t>
            </a:r>
            <a:endParaRPr lang="en-US" sz="3200" dirty="0"/>
          </a:p>
        </p:txBody>
      </p:sp>
      <p:sp>
        <p:nvSpPr>
          <p:cNvPr id="3" name="Text 1"/>
          <p:cNvSpPr/>
          <p:nvPr/>
        </p:nvSpPr>
        <p:spPr>
          <a:xfrm>
            <a:off x="548640" y="1005840"/>
            <a:ext cx="8046720" cy="274320"/>
          </a:xfrm>
          <a:prstGeom prst="rect">
            <a:avLst/>
          </a:prstGeom>
          <a:noFill/>
          <a:ln/>
        </p:spPr>
        <p:txBody>
          <a:bodyPr wrap="square" rtlCol="0" anchor="ctr"/>
          <a:lstStyle/>
          <a:p>
            <a:pPr indent="0" marL="0">
              <a:buNone/>
            </a:pPr>
            <a:r>
              <a:rPr lang="en-US" sz="1600" b="1" dirty="0">
                <a:solidFill>
                  <a:srgbClr val="B5636A"/>
                </a:solidFill>
                <a:latin typeface="Calibri" pitchFamily="34" charset="0"/>
                <a:ea typeface="Calibri" pitchFamily="34" charset="-122"/>
                <a:cs typeface="Calibri" pitchFamily="34" charset="-120"/>
              </a:rPr>
              <a:t>Research Question</a:t>
            </a:r>
            <a:endParaRPr lang="en-US" sz="1600" dirty="0"/>
          </a:p>
        </p:txBody>
      </p:sp>
      <p:sp>
        <p:nvSpPr>
          <p:cNvPr id="4" name="Text 2"/>
          <p:cNvSpPr/>
          <p:nvPr/>
        </p:nvSpPr>
        <p:spPr>
          <a:xfrm>
            <a:off x="548640" y="1280160"/>
            <a:ext cx="8046720" cy="548640"/>
          </a:xfrm>
          <a:prstGeom prst="rect">
            <a:avLst/>
          </a:prstGeom>
          <a:noFill/>
          <a:ln/>
        </p:spPr>
        <p:txBody>
          <a:bodyPr wrap="square" rtlCol="0" anchor="ctr"/>
          <a:lstStyle/>
          <a:p>
            <a:pPr indent="0" marL="0">
              <a:buNone/>
            </a:pPr>
            <a:r>
              <a:rPr lang="en-US" sz="1400" i="1" dirty="0">
                <a:solidFill>
                  <a:srgbClr val="2C2C2C"/>
                </a:solidFill>
                <a:latin typeface="Calibri" pitchFamily="34" charset="0"/>
                <a:ea typeface="Calibri" pitchFamily="34" charset="-122"/>
                <a:cs typeface="Calibri" pitchFamily="34" charset="-120"/>
              </a:rPr>
              <a:t>Can we build an interpretable model of raga recognition that mirrors how humans perceive and identify ragas, through characteristic phrases and note emphasis, rather than black-box learning?</a:t>
            </a:r>
            <a:endParaRPr lang="en-US" sz="1400" dirty="0"/>
          </a:p>
        </p:txBody>
      </p:sp>
      <p:sp>
        <p:nvSpPr>
          <p:cNvPr id="5" name="Shape 3"/>
          <p:cNvSpPr/>
          <p:nvPr/>
        </p:nvSpPr>
        <p:spPr>
          <a:xfrm>
            <a:off x="548640" y="2194560"/>
            <a:ext cx="2560320" cy="2468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6" name="Shape 4"/>
          <p:cNvSpPr/>
          <p:nvPr/>
        </p:nvSpPr>
        <p:spPr>
          <a:xfrm>
            <a:off x="548640" y="2194560"/>
            <a:ext cx="2560320" cy="54864"/>
          </a:xfrm>
          <a:prstGeom prst="rect">
            <a:avLst/>
          </a:prstGeom>
          <a:solidFill>
            <a:srgbClr val="1A2744"/>
          </a:solidFill>
          <a:ln/>
        </p:spPr>
      </p:sp>
      <p:sp>
        <p:nvSpPr>
          <p:cNvPr id="7" name="Text 5"/>
          <p:cNvSpPr/>
          <p:nvPr/>
        </p:nvSpPr>
        <p:spPr>
          <a:xfrm>
            <a:off x="731520" y="2377440"/>
            <a:ext cx="2194560" cy="320040"/>
          </a:xfrm>
          <a:prstGeom prst="rect">
            <a:avLst/>
          </a:prstGeom>
          <a:noFill/>
          <a:ln/>
        </p:spPr>
        <p:txBody>
          <a:bodyPr wrap="square" rtlCol="0" anchor="ctr"/>
          <a:lstStyle/>
          <a:p>
            <a:pPr indent="0" marL="0">
              <a:buNone/>
            </a:pPr>
            <a:r>
              <a:rPr lang="en-US" sz="1500" b="1" dirty="0">
                <a:solidFill>
                  <a:srgbClr val="B5636A"/>
                </a:solidFill>
                <a:latin typeface="Calibri" pitchFamily="34" charset="0"/>
                <a:ea typeface="Calibri" pitchFamily="34" charset="-122"/>
                <a:cs typeface="Calibri" pitchFamily="34" charset="-120"/>
              </a:rPr>
              <a:t>Dataset</a:t>
            </a:r>
            <a:endParaRPr lang="en-US" sz="1500" dirty="0"/>
          </a:p>
        </p:txBody>
      </p:sp>
      <p:sp>
        <p:nvSpPr>
          <p:cNvPr id="8" name="Text 6"/>
          <p:cNvSpPr/>
          <p:nvPr/>
        </p:nvSpPr>
        <p:spPr>
          <a:xfrm>
            <a:off x="731520" y="2743200"/>
            <a:ext cx="2194560" cy="16459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SARAGA Carnatic</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73 tracks, 14 ragas</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2,107 segments (filtered)</a:t>
            </a:r>
            <a:endParaRPr lang="en-US" sz="1200" dirty="0"/>
          </a:p>
        </p:txBody>
      </p:sp>
      <p:sp>
        <p:nvSpPr>
          <p:cNvPr id="9" name="Shape 7"/>
          <p:cNvSpPr/>
          <p:nvPr/>
        </p:nvSpPr>
        <p:spPr>
          <a:xfrm>
            <a:off x="3383280" y="2194560"/>
            <a:ext cx="2560320" cy="2468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0" name="Shape 8"/>
          <p:cNvSpPr/>
          <p:nvPr/>
        </p:nvSpPr>
        <p:spPr>
          <a:xfrm>
            <a:off x="3383280" y="2194560"/>
            <a:ext cx="2560320" cy="54864"/>
          </a:xfrm>
          <a:prstGeom prst="rect">
            <a:avLst/>
          </a:prstGeom>
          <a:solidFill>
            <a:srgbClr val="1A2744"/>
          </a:solidFill>
          <a:ln/>
        </p:spPr>
      </p:sp>
      <p:sp>
        <p:nvSpPr>
          <p:cNvPr id="11" name="Text 9"/>
          <p:cNvSpPr/>
          <p:nvPr/>
        </p:nvSpPr>
        <p:spPr>
          <a:xfrm>
            <a:off x="3566160" y="2377440"/>
            <a:ext cx="2194560" cy="320040"/>
          </a:xfrm>
          <a:prstGeom prst="rect">
            <a:avLst/>
          </a:prstGeom>
          <a:noFill/>
          <a:ln/>
        </p:spPr>
        <p:txBody>
          <a:bodyPr wrap="square" rtlCol="0" anchor="ctr"/>
          <a:lstStyle/>
          <a:p>
            <a:pPr indent="0" marL="0">
              <a:buNone/>
            </a:pPr>
            <a:r>
              <a:rPr lang="en-US" sz="1500" b="1" dirty="0">
                <a:solidFill>
                  <a:srgbClr val="B5636A"/>
                </a:solidFill>
                <a:latin typeface="Calibri" pitchFamily="34" charset="0"/>
                <a:ea typeface="Calibri" pitchFamily="34" charset="-122"/>
                <a:cs typeface="Calibri" pitchFamily="34" charset="-120"/>
              </a:rPr>
              <a:t>Pipeline</a:t>
            </a:r>
            <a:endParaRPr lang="en-US" sz="1500" dirty="0"/>
          </a:p>
        </p:txBody>
      </p:sp>
      <p:sp>
        <p:nvSpPr>
          <p:cNvPr id="12" name="Text 10"/>
          <p:cNvSpPr/>
          <p:nvPr/>
        </p:nvSpPr>
        <p:spPr>
          <a:xfrm>
            <a:off x="3566160" y="2743200"/>
            <a:ext cx="2194560" cy="16459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6-stage interpretable</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Audio &gt; Pitch &gt; Tonic &gt;</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Swaras &gt; Features &gt; Classify</a:t>
            </a:r>
            <a:endParaRPr lang="en-US" sz="1200" dirty="0"/>
          </a:p>
        </p:txBody>
      </p:sp>
      <p:sp>
        <p:nvSpPr>
          <p:cNvPr id="13" name="Shape 11"/>
          <p:cNvSpPr/>
          <p:nvPr/>
        </p:nvSpPr>
        <p:spPr>
          <a:xfrm>
            <a:off x="6217920" y="2194560"/>
            <a:ext cx="2560320" cy="246888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4" name="Shape 12"/>
          <p:cNvSpPr/>
          <p:nvPr/>
        </p:nvSpPr>
        <p:spPr>
          <a:xfrm>
            <a:off x="6217920" y="2194560"/>
            <a:ext cx="2560320" cy="54864"/>
          </a:xfrm>
          <a:prstGeom prst="rect">
            <a:avLst/>
          </a:prstGeom>
          <a:solidFill>
            <a:srgbClr val="1A2744"/>
          </a:solidFill>
          <a:ln/>
        </p:spPr>
      </p:sp>
      <p:sp>
        <p:nvSpPr>
          <p:cNvPr id="15" name="Text 13"/>
          <p:cNvSpPr/>
          <p:nvPr/>
        </p:nvSpPr>
        <p:spPr>
          <a:xfrm>
            <a:off x="6400800" y="2377440"/>
            <a:ext cx="2194560" cy="320040"/>
          </a:xfrm>
          <a:prstGeom prst="rect">
            <a:avLst/>
          </a:prstGeom>
          <a:noFill/>
          <a:ln/>
        </p:spPr>
        <p:txBody>
          <a:bodyPr wrap="square" rtlCol="0" anchor="ctr"/>
          <a:lstStyle/>
          <a:p>
            <a:pPr indent="0" marL="0">
              <a:buNone/>
            </a:pPr>
            <a:r>
              <a:rPr lang="en-US" sz="1500" b="1" dirty="0">
                <a:solidFill>
                  <a:srgbClr val="B5636A"/>
                </a:solidFill>
                <a:latin typeface="Calibri" pitchFamily="34" charset="0"/>
                <a:ea typeface="Calibri" pitchFamily="34" charset="-122"/>
                <a:cs typeface="Calibri" pitchFamily="34" charset="-120"/>
              </a:rPr>
              <a:t>Best Result</a:t>
            </a:r>
            <a:endParaRPr lang="en-US" sz="1500" dirty="0"/>
          </a:p>
        </p:txBody>
      </p:sp>
      <p:sp>
        <p:nvSpPr>
          <p:cNvPr id="16" name="Text 14"/>
          <p:cNvSpPr/>
          <p:nvPr/>
        </p:nvSpPr>
        <p:spPr>
          <a:xfrm>
            <a:off x="6400800" y="2743200"/>
            <a:ext cx="2194560" cy="164592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60.2% seg / 70.0% trk</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216 interpretable features</a:t>
            </a:r>
            <a:endParaRPr lang="en-US" sz="1200" dirty="0"/>
          </a:p>
          <a:p>
            <a:pPr indent="0" marL="0">
              <a:buNone/>
            </a:pPr>
            <a:r>
              <a:rPr lang="en-US" sz="1200" dirty="0">
                <a:solidFill>
                  <a:srgbClr val="2C2C2C"/>
                </a:solidFill>
                <a:latin typeface="Calibri" pitchFamily="34" charset="0"/>
                <a:ea typeface="Calibri" pitchFamily="34" charset="-122"/>
                <a:cs typeface="Calibri" pitchFamily="34" charset="-120"/>
              </a:rPr>
              <a:t>Beats LSTM by 18%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Three Lenses for Evaluating Results</a:t>
            </a:r>
            <a:endParaRPr lang="en-US" sz="3000" dirty="0"/>
          </a:p>
        </p:txBody>
      </p:sp>
      <p:sp>
        <p:nvSpPr>
          <p:cNvPr id="3" name="Text 1"/>
          <p:cNvSpPr/>
          <p:nvPr/>
        </p:nvSpPr>
        <p:spPr>
          <a:xfrm>
            <a:off x="548640" y="960120"/>
            <a:ext cx="8046720" cy="6400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This project sits at the intersection of cognitive science, musicology, and machine learning. A result that only holds up in one of these is not convincing. Every finding is tested against all three.</a:t>
            </a:r>
            <a:endParaRPr lang="en-US" sz="1300" dirty="0"/>
          </a:p>
        </p:txBody>
      </p:sp>
      <p:sp>
        <p:nvSpPr>
          <p:cNvPr id="4" name="Shape 2"/>
          <p:cNvSpPr/>
          <p:nvPr/>
        </p:nvSpPr>
        <p:spPr>
          <a:xfrm>
            <a:off x="548640" y="1783080"/>
            <a:ext cx="73152" cy="914400"/>
          </a:xfrm>
          <a:prstGeom prst="rect">
            <a:avLst/>
          </a:prstGeom>
          <a:solidFill>
            <a:srgbClr val="1B6B7D"/>
          </a:solidFill>
          <a:ln/>
        </p:spPr>
      </p:sp>
      <p:sp>
        <p:nvSpPr>
          <p:cNvPr id="5" name="Text 3"/>
          <p:cNvSpPr/>
          <p:nvPr/>
        </p:nvSpPr>
        <p:spPr>
          <a:xfrm>
            <a:off x="822960" y="1783080"/>
            <a:ext cx="2926080" cy="292608"/>
          </a:xfrm>
          <a:prstGeom prst="rect">
            <a:avLst/>
          </a:prstGeom>
          <a:noFill/>
          <a:ln/>
        </p:spPr>
        <p:txBody>
          <a:bodyPr wrap="square" rtlCol="0" anchor="ctr"/>
          <a:lstStyle/>
          <a:p>
            <a:pPr indent="0" marL="0">
              <a:buNone/>
            </a:pPr>
            <a:r>
              <a:rPr lang="en-US" sz="1400" b="1" dirty="0">
                <a:solidFill>
                  <a:srgbClr val="1B6B7D"/>
                </a:solidFill>
                <a:latin typeface="Calibri" pitchFamily="34" charset="0"/>
                <a:ea typeface="Calibri" pitchFamily="34" charset="-122"/>
                <a:cs typeface="Calibri" pitchFamily="34" charset="-120"/>
              </a:rPr>
              <a:t>🧠  Cognitive Science</a:t>
            </a:r>
            <a:endParaRPr lang="en-US" sz="1400" dirty="0"/>
          </a:p>
        </p:txBody>
      </p:sp>
      <p:sp>
        <p:nvSpPr>
          <p:cNvPr id="6" name="Text 4"/>
          <p:cNvSpPr/>
          <p:nvPr/>
        </p:nvSpPr>
        <p:spPr>
          <a:xfrm>
            <a:off x="822960" y="2057400"/>
            <a:ext cx="3200400" cy="256032"/>
          </a:xfrm>
          <a:prstGeom prst="rect">
            <a:avLst/>
          </a:prstGeom>
          <a:noFill/>
          <a:ln/>
        </p:spPr>
        <p:txBody>
          <a:bodyPr wrap="square" rtlCol="0" anchor="ctr"/>
          <a:lstStyle/>
          <a:p>
            <a:pPr indent="0" marL="0">
              <a:buNone/>
            </a:pPr>
            <a:r>
              <a:rPr lang="en-US" sz="1100" i="1" dirty="0">
                <a:solidFill>
                  <a:srgbClr val="2C2C2C"/>
                </a:solidFill>
                <a:latin typeface="Calibri" pitchFamily="34" charset="0"/>
                <a:ea typeface="Calibri" pitchFamily="34" charset="-122"/>
                <a:cs typeface="Calibri" pitchFamily="34" charset="-120"/>
              </a:rPr>
              <a:t>Does this reflect how humans actually perceive music?</a:t>
            </a:r>
            <a:endParaRPr lang="en-US" sz="1100" dirty="0"/>
          </a:p>
        </p:txBody>
      </p:sp>
      <p:sp>
        <p:nvSpPr>
          <p:cNvPr id="7" name="Text 5"/>
          <p:cNvSpPr/>
          <p:nvPr/>
        </p:nvSpPr>
        <p:spPr>
          <a:xfrm>
            <a:off x="4206240" y="1783080"/>
            <a:ext cx="4572000" cy="91440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Example: Trigrams model statistical learning (Saffran et al., 1996). Listeners track transition probabilities between notes through exposure. Our trigram features are a computational version of that perceptual process.</a:t>
            </a:r>
            <a:endParaRPr lang="en-US" sz="1000" dirty="0"/>
          </a:p>
        </p:txBody>
      </p:sp>
      <p:sp>
        <p:nvSpPr>
          <p:cNvPr id="8" name="Shape 6"/>
          <p:cNvSpPr/>
          <p:nvPr/>
        </p:nvSpPr>
        <p:spPr>
          <a:xfrm>
            <a:off x="548640" y="2834640"/>
            <a:ext cx="73152" cy="914400"/>
          </a:xfrm>
          <a:prstGeom prst="rect">
            <a:avLst/>
          </a:prstGeom>
          <a:solidFill>
            <a:srgbClr val="D4A843"/>
          </a:solidFill>
          <a:ln/>
        </p:spPr>
      </p:sp>
      <p:sp>
        <p:nvSpPr>
          <p:cNvPr id="9" name="Text 7"/>
          <p:cNvSpPr/>
          <p:nvPr/>
        </p:nvSpPr>
        <p:spPr>
          <a:xfrm>
            <a:off x="822960" y="2834640"/>
            <a:ext cx="2926080" cy="292608"/>
          </a:xfrm>
          <a:prstGeom prst="rect">
            <a:avLst/>
          </a:prstGeom>
          <a:noFill/>
          <a:ln/>
        </p:spPr>
        <p:txBody>
          <a:bodyPr wrap="square" rtlCol="0" anchor="ctr"/>
          <a:lstStyle/>
          <a:p>
            <a:pPr indent="0" marL="0">
              <a:buNone/>
            </a:pPr>
            <a:r>
              <a:rPr lang="en-US" sz="1400" b="1" dirty="0">
                <a:solidFill>
                  <a:srgbClr val="D4A843"/>
                </a:solidFill>
                <a:latin typeface="Calibri" pitchFamily="34" charset="0"/>
                <a:ea typeface="Calibri" pitchFamily="34" charset="-122"/>
                <a:cs typeface="Calibri" pitchFamily="34" charset="-120"/>
              </a:rPr>
              <a:t>🎵  Musicology</a:t>
            </a:r>
            <a:endParaRPr lang="en-US" sz="1400" dirty="0"/>
          </a:p>
        </p:txBody>
      </p:sp>
      <p:sp>
        <p:nvSpPr>
          <p:cNvPr id="10" name="Text 8"/>
          <p:cNvSpPr/>
          <p:nvPr/>
        </p:nvSpPr>
        <p:spPr>
          <a:xfrm>
            <a:off x="822960" y="3108960"/>
            <a:ext cx="3200400" cy="256032"/>
          </a:xfrm>
          <a:prstGeom prst="rect">
            <a:avLst/>
          </a:prstGeom>
          <a:noFill/>
          <a:ln/>
        </p:spPr>
        <p:txBody>
          <a:bodyPr wrap="square" rtlCol="0" anchor="ctr"/>
          <a:lstStyle/>
          <a:p>
            <a:pPr indent="0" marL="0">
              <a:buNone/>
            </a:pPr>
            <a:r>
              <a:rPr lang="en-US" sz="1100" i="1" dirty="0">
                <a:solidFill>
                  <a:srgbClr val="2C2C2C"/>
                </a:solidFill>
                <a:latin typeface="Calibri" pitchFamily="34" charset="0"/>
                <a:ea typeface="Calibri" pitchFamily="34" charset="-122"/>
                <a:cs typeface="Calibri" pitchFamily="34" charset="-120"/>
              </a:rPr>
              <a:t>Does this align with how musicians understand ragas?</a:t>
            </a:r>
            <a:endParaRPr lang="en-US" sz="1100" dirty="0"/>
          </a:p>
        </p:txBody>
      </p:sp>
      <p:sp>
        <p:nvSpPr>
          <p:cNvPr id="11" name="Text 9"/>
          <p:cNvSpPr/>
          <p:nvPr/>
        </p:nvSpPr>
        <p:spPr>
          <a:xfrm>
            <a:off x="4206240" y="2834640"/>
            <a:ext cx="4572000" cy="91440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Example: Dwell-time captures vadi emphasis. If Carnatic theory says the vadi is the 'king swara' that performers sustain, our operational definition (swara with max dwell-time) should match the theoretical one.</a:t>
            </a:r>
            <a:endParaRPr lang="en-US" sz="1000" dirty="0"/>
          </a:p>
        </p:txBody>
      </p:sp>
      <p:sp>
        <p:nvSpPr>
          <p:cNvPr id="12" name="Shape 10"/>
          <p:cNvSpPr/>
          <p:nvPr/>
        </p:nvSpPr>
        <p:spPr>
          <a:xfrm>
            <a:off x="548640" y="3886200"/>
            <a:ext cx="73152" cy="914400"/>
          </a:xfrm>
          <a:prstGeom prst="rect">
            <a:avLst/>
          </a:prstGeom>
          <a:solidFill>
            <a:srgbClr val="B5636A"/>
          </a:solidFill>
          <a:ln/>
        </p:spPr>
      </p:sp>
      <p:sp>
        <p:nvSpPr>
          <p:cNvPr id="13" name="Text 11"/>
          <p:cNvSpPr/>
          <p:nvPr/>
        </p:nvSpPr>
        <p:spPr>
          <a:xfrm>
            <a:off x="822960" y="3886200"/>
            <a:ext cx="2926080" cy="292608"/>
          </a:xfrm>
          <a:prstGeom prst="rect">
            <a:avLst/>
          </a:prstGeom>
          <a:noFill/>
          <a:ln/>
        </p:spPr>
        <p:txBody>
          <a:bodyPr wrap="square" rtlCol="0" anchor="ctr"/>
          <a:lstStyle/>
          <a:p>
            <a:pPr indent="0" marL="0">
              <a:buNone/>
            </a:pPr>
            <a:r>
              <a:rPr lang="en-US" sz="1400" b="1" dirty="0">
                <a:solidFill>
                  <a:srgbClr val="B5636A"/>
                </a:solidFill>
                <a:latin typeface="Calibri" pitchFamily="34" charset="0"/>
                <a:ea typeface="Calibri" pitchFamily="34" charset="-122"/>
                <a:cs typeface="Calibri" pitchFamily="34" charset="-120"/>
              </a:rPr>
              <a:t>🤖  Machine Learning</a:t>
            </a:r>
            <a:endParaRPr lang="en-US" sz="1400" dirty="0"/>
          </a:p>
        </p:txBody>
      </p:sp>
      <p:sp>
        <p:nvSpPr>
          <p:cNvPr id="14" name="Text 12"/>
          <p:cNvSpPr/>
          <p:nvPr/>
        </p:nvSpPr>
        <p:spPr>
          <a:xfrm>
            <a:off x="822960" y="4160520"/>
            <a:ext cx="3200400" cy="256032"/>
          </a:xfrm>
          <a:prstGeom prst="rect">
            <a:avLst/>
          </a:prstGeom>
          <a:noFill/>
          <a:ln/>
        </p:spPr>
        <p:txBody>
          <a:bodyPr wrap="square" rtlCol="0" anchor="ctr"/>
          <a:lstStyle/>
          <a:p>
            <a:pPr indent="0" marL="0">
              <a:buNone/>
            </a:pPr>
            <a:r>
              <a:rPr lang="en-US" sz="1100" i="1" dirty="0">
                <a:solidFill>
                  <a:srgbClr val="2C2C2C"/>
                </a:solidFill>
                <a:latin typeface="Calibri" pitchFamily="34" charset="0"/>
                <a:ea typeface="Calibri" pitchFamily="34" charset="-122"/>
                <a:cs typeface="Calibri" pitchFamily="34" charset="-120"/>
              </a:rPr>
              <a:t>Is the experimental methodology sound?</a:t>
            </a:r>
            <a:endParaRPr lang="en-US" sz="1100" dirty="0"/>
          </a:p>
        </p:txBody>
      </p:sp>
      <p:sp>
        <p:nvSpPr>
          <p:cNvPr id="15" name="Text 13"/>
          <p:cNvSpPr/>
          <p:nvPr/>
        </p:nvSpPr>
        <p:spPr>
          <a:xfrm>
            <a:off x="4206240" y="3886200"/>
            <a:ext cx="4572000" cy="91440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Example: SVM beating LSTM is not about which algorithm is better. It is about domain-informed features outperforming generic representation learning when data is limited (~2,100 samples).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Seven Testable Hypotheses</a:t>
            </a:r>
            <a:endParaRPr lang="en-US" sz="3000" dirty="0"/>
          </a:p>
        </p:txBody>
      </p:sp>
      <p:sp>
        <p:nvSpPr>
          <p:cNvPr id="3" name="Shape 1"/>
          <p:cNvSpPr/>
          <p:nvPr/>
        </p:nvSpPr>
        <p:spPr>
          <a:xfrm>
            <a:off x="548640" y="1051560"/>
            <a:ext cx="54864" cy="411480"/>
          </a:xfrm>
          <a:prstGeom prst="rect">
            <a:avLst/>
          </a:prstGeom>
          <a:solidFill>
            <a:srgbClr val="2D8659"/>
          </a:solidFill>
          <a:ln/>
        </p:spPr>
      </p:sp>
      <p:sp>
        <p:nvSpPr>
          <p:cNvPr id="4" name="Text 2"/>
          <p:cNvSpPr/>
          <p:nvPr/>
        </p:nvSpPr>
        <p:spPr>
          <a:xfrm>
            <a:off x="777240" y="1051560"/>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H1</a:t>
            </a:r>
            <a:endParaRPr lang="en-US" sz="1300" dirty="0"/>
          </a:p>
        </p:txBody>
      </p:sp>
      <p:sp>
        <p:nvSpPr>
          <p:cNvPr id="5" name="Text 3"/>
          <p:cNvSpPr/>
          <p:nvPr/>
        </p:nvSpPr>
        <p:spPr>
          <a:xfrm>
            <a:off x="1325880" y="1051560"/>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Short melodic sequences (trigrams) are the primary raga cue</a:t>
            </a:r>
            <a:endParaRPr lang="en-US" sz="1300" dirty="0"/>
          </a:p>
        </p:txBody>
      </p:sp>
      <p:sp>
        <p:nvSpPr>
          <p:cNvPr id="6" name="Text 4"/>
          <p:cNvSpPr/>
          <p:nvPr/>
        </p:nvSpPr>
        <p:spPr>
          <a:xfrm>
            <a:off x="8138160" y="1051560"/>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7" name="Shape 5"/>
          <p:cNvSpPr/>
          <p:nvPr/>
        </p:nvSpPr>
        <p:spPr>
          <a:xfrm>
            <a:off x="548640" y="1581912"/>
            <a:ext cx="54864" cy="411480"/>
          </a:xfrm>
          <a:prstGeom prst="rect">
            <a:avLst/>
          </a:prstGeom>
          <a:solidFill>
            <a:srgbClr val="2D8659"/>
          </a:solidFill>
          <a:ln/>
        </p:spPr>
      </p:sp>
      <p:sp>
        <p:nvSpPr>
          <p:cNvPr id="8" name="Text 6"/>
          <p:cNvSpPr/>
          <p:nvPr/>
        </p:nvSpPr>
        <p:spPr>
          <a:xfrm>
            <a:off x="777240" y="1581912"/>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H2</a:t>
            </a:r>
            <a:endParaRPr lang="en-US" sz="1300" dirty="0"/>
          </a:p>
        </p:txBody>
      </p:sp>
      <p:sp>
        <p:nvSpPr>
          <p:cNvPr id="9" name="Text 7"/>
          <p:cNvSpPr/>
          <p:nvPr/>
        </p:nvSpPr>
        <p:spPr>
          <a:xfrm>
            <a:off x="1325880" y="1581912"/>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Raga identity is structural, not timbral</a:t>
            </a:r>
            <a:endParaRPr lang="en-US" sz="1300" dirty="0"/>
          </a:p>
        </p:txBody>
      </p:sp>
      <p:sp>
        <p:nvSpPr>
          <p:cNvPr id="10" name="Text 8"/>
          <p:cNvSpPr/>
          <p:nvPr/>
        </p:nvSpPr>
        <p:spPr>
          <a:xfrm>
            <a:off x="8138160" y="1581912"/>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1" name="Shape 9"/>
          <p:cNvSpPr/>
          <p:nvPr/>
        </p:nvSpPr>
        <p:spPr>
          <a:xfrm>
            <a:off x="548640" y="2112264"/>
            <a:ext cx="54864" cy="411480"/>
          </a:xfrm>
          <a:prstGeom prst="rect">
            <a:avLst/>
          </a:prstGeom>
          <a:solidFill>
            <a:srgbClr val="2D8659"/>
          </a:solidFill>
          <a:ln/>
        </p:spPr>
      </p:sp>
      <p:sp>
        <p:nvSpPr>
          <p:cNvPr id="12" name="Text 10"/>
          <p:cNvSpPr/>
          <p:nvPr/>
        </p:nvSpPr>
        <p:spPr>
          <a:xfrm>
            <a:off x="777240" y="2112264"/>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H3</a:t>
            </a:r>
            <a:endParaRPr lang="en-US" sz="1300" dirty="0"/>
          </a:p>
        </p:txBody>
      </p:sp>
      <p:sp>
        <p:nvSpPr>
          <p:cNvPr id="13" name="Text 11"/>
          <p:cNvSpPr/>
          <p:nvPr/>
        </p:nvSpPr>
        <p:spPr>
          <a:xfrm>
            <a:off x="1325880" y="2112264"/>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Cognitive parsimony: fewer features outperform more</a:t>
            </a:r>
            <a:endParaRPr lang="en-US" sz="1300" dirty="0"/>
          </a:p>
        </p:txBody>
      </p:sp>
      <p:sp>
        <p:nvSpPr>
          <p:cNvPr id="14" name="Text 12"/>
          <p:cNvSpPr/>
          <p:nvPr/>
        </p:nvSpPr>
        <p:spPr>
          <a:xfrm>
            <a:off x="8138160" y="2112264"/>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5" name="Shape 13"/>
          <p:cNvSpPr/>
          <p:nvPr/>
        </p:nvSpPr>
        <p:spPr>
          <a:xfrm>
            <a:off x="548640" y="2642616"/>
            <a:ext cx="54864" cy="411480"/>
          </a:xfrm>
          <a:prstGeom prst="rect">
            <a:avLst/>
          </a:prstGeom>
          <a:solidFill>
            <a:srgbClr val="D4A843"/>
          </a:solidFill>
          <a:ln/>
        </p:spPr>
      </p:sp>
      <p:sp>
        <p:nvSpPr>
          <p:cNvPr id="16" name="Text 14"/>
          <p:cNvSpPr/>
          <p:nvPr/>
        </p:nvSpPr>
        <p:spPr>
          <a:xfrm>
            <a:off x="777240" y="2642616"/>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H4</a:t>
            </a:r>
            <a:endParaRPr lang="en-US" sz="1300" dirty="0"/>
          </a:p>
        </p:txBody>
      </p:sp>
      <p:sp>
        <p:nvSpPr>
          <p:cNvPr id="17" name="Text 15"/>
          <p:cNvSpPr/>
          <p:nvPr/>
        </p:nvSpPr>
        <p:spPr>
          <a:xfrm>
            <a:off x="1325880" y="2642616"/>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Confusion follows musicological kinship (melakarta-janya)</a:t>
            </a:r>
            <a:endParaRPr lang="en-US" sz="1300" dirty="0"/>
          </a:p>
        </p:txBody>
      </p:sp>
      <p:sp>
        <p:nvSpPr>
          <p:cNvPr id="18" name="Text 16"/>
          <p:cNvSpPr/>
          <p:nvPr/>
        </p:nvSpPr>
        <p:spPr>
          <a:xfrm>
            <a:off x="8138160" y="2642616"/>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19" name="Shape 17"/>
          <p:cNvSpPr/>
          <p:nvPr/>
        </p:nvSpPr>
        <p:spPr>
          <a:xfrm>
            <a:off x="548640" y="3172968"/>
            <a:ext cx="54864" cy="411480"/>
          </a:xfrm>
          <a:prstGeom prst="rect">
            <a:avLst/>
          </a:prstGeom>
          <a:solidFill>
            <a:srgbClr val="2D8659"/>
          </a:solidFill>
          <a:ln/>
        </p:spPr>
      </p:sp>
      <p:sp>
        <p:nvSpPr>
          <p:cNvPr id="20" name="Text 18"/>
          <p:cNvSpPr/>
          <p:nvPr/>
        </p:nvSpPr>
        <p:spPr>
          <a:xfrm>
            <a:off x="777240" y="3172968"/>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H5</a:t>
            </a:r>
            <a:endParaRPr lang="en-US" sz="1300" dirty="0"/>
          </a:p>
        </p:txBody>
      </p:sp>
      <p:sp>
        <p:nvSpPr>
          <p:cNvPr id="21" name="Text 19"/>
          <p:cNvSpPr/>
          <p:nvPr/>
        </p:nvSpPr>
        <p:spPr>
          <a:xfrm>
            <a:off x="1325880" y="3172968"/>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Dwell-time captures vadi/samvadi emphasis</a:t>
            </a:r>
            <a:endParaRPr lang="en-US" sz="1300" dirty="0"/>
          </a:p>
        </p:txBody>
      </p:sp>
      <p:sp>
        <p:nvSpPr>
          <p:cNvPr id="22" name="Text 20"/>
          <p:cNvSpPr/>
          <p:nvPr/>
        </p:nvSpPr>
        <p:spPr>
          <a:xfrm>
            <a:off x="8138160" y="3172968"/>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23" name="Shape 21"/>
          <p:cNvSpPr/>
          <p:nvPr/>
        </p:nvSpPr>
        <p:spPr>
          <a:xfrm>
            <a:off x="548640" y="3703320"/>
            <a:ext cx="54864" cy="411480"/>
          </a:xfrm>
          <a:prstGeom prst="rect">
            <a:avLst/>
          </a:prstGeom>
          <a:solidFill>
            <a:srgbClr val="C0392B"/>
          </a:solidFill>
          <a:ln/>
        </p:spPr>
      </p:sp>
      <p:sp>
        <p:nvSpPr>
          <p:cNvPr id="24" name="Text 22"/>
          <p:cNvSpPr/>
          <p:nvPr/>
        </p:nvSpPr>
        <p:spPr>
          <a:xfrm>
            <a:off x="777240" y="3703320"/>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H6</a:t>
            </a:r>
            <a:endParaRPr lang="en-US" sz="1300" dirty="0"/>
          </a:p>
        </p:txBody>
      </p:sp>
      <p:sp>
        <p:nvSpPr>
          <p:cNvPr id="25" name="Text 23"/>
          <p:cNvSpPr/>
          <p:nvPr/>
        </p:nvSpPr>
        <p:spPr>
          <a:xfrm>
            <a:off x="1325880" y="3703320"/>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Directional encoding adds marginal information</a:t>
            </a:r>
            <a:endParaRPr lang="en-US" sz="1300" dirty="0"/>
          </a:p>
        </p:txBody>
      </p:sp>
      <p:sp>
        <p:nvSpPr>
          <p:cNvPr id="26" name="Text 24"/>
          <p:cNvSpPr/>
          <p:nvPr/>
        </p:nvSpPr>
        <p:spPr>
          <a:xfrm>
            <a:off x="8138160" y="3703320"/>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27" name="Shape 25"/>
          <p:cNvSpPr/>
          <p:nvPr/>
        </p:nvSpPr>
        <p:spPr>
          <a:xfrm>
            <a:off x="548640" y="4233672"/>
            <a:ext cx="54864" cy="411480"/>
          </a:xfrm>
          <a:prstGeom prst="rect">
            <a:avLst/>
          </a:prstGeom>
          <a:solidFill>
            <a:srgbClr val="2D8659"/>
          </a:solidFill>
          <a:ln/>
        </p:spPr>
      </p:sp>
      <p:sp>
        <p:nvSpPr>
          <p:cNvPr id="28" name="Text 26"/>
          <p:cNvSpPr/>
          <p:nvPr/>
        </p:nvSpPr>
        <p:spPr>
          <a:xfrm>
            <a:off x="777240" y="4233672"/>
            <a:ext cx="502920" cy="411480"/>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H7</a:t>
            </a:r>
            <a:endParaRPr lang="en-US" sz="1300" dirty="0"/>
          </a:p>
        </p:txBody>
      </p:sp>
      <p:sp>
        <p:nvSpPr>
          <p:cNvPr id="29" name="Text 27"/>
          <p:cNvSpPr/>
          <p:nvPr/>
        </p:nvSpPr>
        <p:spPr>
          <a:xfrm>
            <a:off x="1325880" y="4233672"/>
            <a:ext cx="6675120" cy="411480"/>
          </a:xfrm>
          <a:prstGeom prst="rect">
            <a:avLst/>
          </a:prstGeom>
          <a:noFill/>
          <a:ln/>
        </p:spPr>
        <p:txBody>
          <a:bodyPr wrap="square" rtlCol="0" anchor="ctr"/>
          <a:lstStyle/>
          <a:p>
            <a:pPr indent="0" marL="0">
              <a:buNone/>
            </a:pPr>
            <a:r>
              <a:rPr lang="en-US" sz="1300" dirty="0">
                <a:solidFill>
                  <a:srgbClr val="2C2C2C"/>
                </a:solidFill>
                <a:latin typeface="Calibri" pitchFamily="34" charset="0"/>
                <a:ea typeface="Calibri" pitchFamily="34" charset="-122"/>
                <a:cs typeface="Calibri" pitchFamily="34" charset="-120"/>
              </a:rPr>
              <a:t>Longer temporal context improves recognition</a:t>
            </a:r>
            <a:endParaRPr lang="en-US" sz="1300" dirty="0"/>
          </a:p>
        </p:txBody>
      </p:sp>
      <p:sp>
        <p:nvSpPr>
          <p:cNvPr id="30" name="Text 28"/>
          <p:cNvSpPr/>
          <p:nvPr/>
        </p:nvSpPr>
        <p:spPr>
          <a:xfrm>
            <a:off x="8138160" y="4233672"/>
            <a:ext cx="548640" cy="411480"/>
          </a:xfrm>
          <a:prstGeom prst="rect">
            <a:avLst/>
          </a:prstGeom>
          <a:noFill/>
          <a:ln/>
        </p:spPr>
        <p:txBody>
          <a:bodyPr wrap="square" rtlCol="0" anchor="ctr"/>
          <a:lstStyle/>
          <a:p>
            <a:pPr algn="ctr" indent="0" marL="0">
              <a:buNone/>
            </a:pPr>
            <a:r>
              <a:rPr lang="en-US" sz="1300" dirty="0">
                <a:solidFill>
                  <a:srgbClr val="000000"/>
                </a:solidFill>
              </a:rPr>
              <a:t>✅</a:t>
            </a:r>
            <a:endParaRPr lang="en-US" sz="1300" dirty="0"/>
          </a:p>
        </p:txBody>
      </p:sp>
      <p:sp>
        <p:nvSpPr>
          <p:cNvPr id="31" name="Text 29"/>
          <p:cNvSpPr/>
          <p:nvPr/>
        </p:nvSpPr>
        <p:spPr>
          <a:xfrm>
            <a:off x="548640" y="4709160"/>
            <a:ext cx="804672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 Confirmed    ⚠️ Negative (informative)    🔲 Planned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H1: Trigrams Capture Raga Identity</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4114800" cy="1645920"/>
        </p:xfrm>
        <a:graphic>
          <a:graphicData uri="http://schemas.openxmlformats.org/drawingml/2006/table">
            <a:tbl>
              <a:tblPr/>
              <a:tblGrid>
                <a:gridCol w="1280160"/>
                <a:gridCol w="640080"/>
                <a:gridCol w="1097280"/>
                <a:gridCol w="1097280"/>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6B7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Dims</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6B7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14-raga</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6B7D"/>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10-raga</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6B7D"/>
                    </a:solidFill>
                  </a:tcPr>
                </a:tc>
              </a:tr>
              <a:tr h="329184">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trigram</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0.5795</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b="1" dirty="0">
                          <a:solidFill>
                            <a:srgbClr val="000000"/>
                          </a:solidFill>
                          <a:latin typeface="Calibri" pitchFamily="34" charset="0"/>
                          <a:ea typeface="Calibri" pitchFamily="34" charset="-122"/>
                          <a:cs typeface="Calibri" pitchFamily="34" charset="-120"/>
                        </a:rPr>
                        <a:t>0.6211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pcd</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120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0.5059</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0.5390</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dwell_vadi</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0.5297</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0.6028</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29184">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mfcc</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0.1191</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C0392B"/>
                          </a:solidFill>
                          <a:latin typeface="Calibri" pitchFamily="34" charset="0"/>
                          <a:ea typeface="Calibri" pitchFamily="34" charset="-122"/>
                          <a:cs typeface="Calibri" pitchFamily="34" charset="-120"/>
                        </a:rPr>
                        <a:t>0.0628</a:t>
                      </a:r>
                      <a:endParaRPr lang="en-US" sz="11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2743200"/>
            <a:ext cx="4114800" cy="457200"/>
          </a:xfrm>
          <a:prstGeom prst="rect">
            <a:avLst/>
          </a:prstGeom>
          <a:noFill/>
          <a:ln/>
        </p:spPr>
        <p:txBody>
          <a:bodyPr wrap="square" rtlCol="0" anchor="ctr"/>
          <a:lstStyle/>
          <a:p>
            <a:pPr indent="0" marL="0">
              <a:buNone/>
            </a:pPr>
            <a:r>
              <a:rPr lang="en-US" sz="1000" i="1" dirty="0">
                <a:solidFill>
                  <a:srgbClr val="1B6B7D"/>
                </a:solidFill>
                <a:latin typeface="Calibri" pitchFamily="34" charset="0"/>
                <a:ea typeface="Calibri" pitchFamily="34" charset="-122"/>
                <a:cs typeface="Calibri" pitchFamily="34" charset="-120"/>
              </a:rPr>
              <a:t>Adding dwell to trigrams gives trigram_dwell (216d): 0.6018 / 0.6368. Dwell adds non-redundant duration information.</a:t>
            </a:r>
            <a:endParaRPr lang="en-US" sz="1000" dirty="0"/>
          </a:p>
        </p:txBody>
      </p:sp>
      <p:sp>
        <p:nvSpPr>
          <p:cNvPr id="5" name="Shape 2"/>
          <p:cNvSpPr/>
          <p:nvPr/>
        </p:nvSpPr>
        <p:spPr>
          <a:xfrm>
            <a:off x="4937760" y="1005840"/>
            <a:ext cx="3840480" cy="105156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6" name="Text 3"/>
          <p:cNvSpPr/>
          <p:nvPr/>
        </p:nvSpPr>
        <p:spPr>
          <a:xfrm>
            <a:off x="5074920" y="1078992"/>
            <a:ext cx="356616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Cognitive</a:t>
            </a:r>
            <a:endParaRPr lang="en-US" sz="1100" dirty="0"/>
          </a:p>
        </p:txBody>
      </p:sp>
      <p:sp>
        <p:nvSpPr>
          <p:cNvPr id="7" name="Text 4"/>
          <p:cNvSpPr/>
          <p:nvPr/>
        </p:nvSpPr>
        <p:spPr>
          <a:xfrm>
            <a:off x="5074920" y="1316736"/>
            <a:ext cx="3566160" cy="66751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Computational model of statistical learning (Saffran). Trigrams = melodic transition probabilities that listeners internalise through exposure.</a:t>
            </a:r>
            <a:endParaRPr lang="en-US" sz="1000" dirty="0"/>
          </a:p>
        </p:txBody>
      </p:sp>
      <p:sp>
        <p:nvSpPr>
          <p:cNvPr id="8" name="Shape 5"/>
          <p:cNvSpPr/>
          <p:nvPr/>
        </p:nvSpPr>
        <p:spPr>
          <a:xfrm>
            <a:off x="4937760" y="2148840"/>
            <a:ext cx="3840480" cy="105156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9" name="Text 6"/>
          <p:cNvSpPr/>
          <p:nvPr/>
        </p:nvSpPr>
        <p:spPr>
          <a:xfrm>
            <a:off x="5074920" y="2221992"/>
            <a:ext cx="356616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Musical</a:t>
            </a:r>
            <a:endParaRPr lang="en-US" sz="1100" dirty="0"/>
          </a:p>
        </p:txBody>
      </p:sp>
      <p:sp>
        <p:nvSpPr>
          <p:cNvPr id="10" name="Text 7"/>
          <p:cNvSpPr/>
          <p:nvPr/>
        </p:nvSpPr>
        <p:spPr>
          <a:xfrm>
            <a:off x="5074920" y="2459736"/>
            <a:ext cx="3566160" cy="66751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Trigrams encode pakad, the characteristic phrases musicians use to identify ragas. Bhairavi's Sa-Ri-Ga patterns give it 0.89 F1.</a:t>
            </a:r>
            <a:endParaRPr lang="en-US" sz="1000" dirty="0"/>
          </a:p>
        </p:txBody>
      </p:sp>
      <p:sp>
        <p:nvSpPr>
          <p:cNvPr id="11" name="Shape 8"/>
          <p:cNvSpPr/>
          <p:nvPr/>
        </p:nvSpPr>
        <p:spPr>
          <a:xfrm>
            <a:off x="4937760" y="3291840"/>
            <a:ext cx="3840480" cy="105156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2" name="Text 9"/>
          <p:cNvSpPr/>
          <p:nvPr/>
        </p:nvSpPr>
        <p:spPr>
          <a:xfrm>
            <a:off x="5074920" y="3364992"/>
            <a:ext cx="356616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ML</a:t>
            </a:r>
            <a:endParaRPr lang="en-US" sz="1100" dirty="0"/>
          </a:p>
        </p:txBody>
      </p:sp>
      <p:sp>
        <p:nvSpPr>
          <p:cNvPr id="13" name="Text 10"/>
          <p:cNvSpPr/>
          <p:nvPr/>
        </p:nvSpPr>
        <p:spPr>
          <a:xfrm>
            <a:off x="5074920" y="3602736"/>
            <a:ext cx="3566160" cy="66751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Optimal n-gram order for ~2,100 samples. Top-200 vocabulary from 1,728 possible trigrams acts as implicit feature selection.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H2: Raga = Structure, Not Timbre</a:t>
            </a:r>
            <a:endParaRPr lang="en-US" sz="3000" dirty="0"/>
          </a:p>
        </p:txBody>
      </p:sp>
      <p:sp>
        <p:nvSpPr>
          <p:cNvPr id="3" name="Shape 1"/>
          <p:cNvSpPr/>
          <p:nvPr/>
        </p:nvSpPr>
        <p:spPr>
          <a:xfrm>
            <a:off x="548640" y="1051560"/>
            <a:ext cx="3474720" cy="164592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4" name="Text 2"/>
          <p:cNvSpPr/>
          <p:nvPr/>
        </p:nvSpPr>
        <p:spPr>
          <a:xfrm>
            <a:off x="548640" y="1097280"/>
            <a:ext cx="3474720" cy="822960"/>
          </a:xfrm>
          <a:prstGeom prst="rect">
            <a:avLst/>
          </a:prstGeom>
          <a:noFill/>
          <a:ln/>
        </p:spPr>
        <p:txBody>
          <a:bodyPr wrap="square" rtlCol="0" anchor="ctr"/>
          <a:lstStyle/>
          <a:p>
            <a:pPr algn="ctr" indent="0" marL="0">
              <a:buNone/>
            </a:pPr>
            <a:r>
              <a:rPr lang="en-US" sz="5400" b="1" dirty="0">
                <a:solidFill>
                  <a:srgbClr val="C0392B"/>
                </a:solidFill>
                <a:latin typeface="Georgia" pitchFamily="34" charset="0"/>
                <a:ea typeface="Georgia" pitchFamily="34" charset="-122"/>
                <a:cs typeface="Georgia" pitchFamily="34" charset="-120"/>
              </a:rPr>
              <a:t>6.3%</a:t>
            </a:r>
            <a:endParaRPr lang="en-US" sz="5400" dirty="0"/>
          </a:p>
        </p:txBody>
      </p:sp>
      <p:sp>
        <p:nvSpPr>
          <p:cNvPr id="5" name="Text 3"/>
          <p:cNvSpPr/>
          <p:nvPr/>
        </p:nvSpPr>
        <p:spPr>
          <a:xfrm>
            <a:off x="548640" y="1920240"/>
            <a:ext cx="347472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MFCC accuracy at 10 ragas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Random chance = 10.0%</a:t>
            </a:r>
            <a:endParaRPr lang="en-US" sz="1200" dirty="0"/>
          </a:p>
        </p:txBody>
      </p:sp>
      <p:sp>
        <p:nvSpPr>
          <p:cNvPr id="6" name="Shape 4"/>
          <p:cNvSpPr/>
          <p:nvPr/>
        </p:nvSpPr>
        <p:spPr>
          <a:xfrm>
            <a:off x="4389120" y="1051560"/>
            <a:ext cx="3474720" cy="1645920"/>
          </a:xfrm>
          <a:prstGeom prst="rect">
            <a:avLst/>
          </a:prstGeom>
          <a:solidFill>
            <a:srgbClr val="1B6B7D"/>
          </a:solidFill>
          <a:ln/>
          <a:effectLst>
            <a:outerShdw sx="100000" sy="100000" kx="0" ky="0" algn="bl" rotWithShape="0" blurRad="76200" dist="25400" dir="8100000">
              <a:srgbClr val="000000">
                <a:alpha val="12000"/>
              </a:srgbClr>
            </a:outerShdw>
          </a:effectLst>
        </p:spPr>
      </p:sp>
      <p:sp>
        <p:nvSpPr>
          <p:cNvPr id="7" name="Text 5"/>
          <p:cNvSpPr/>
          <p:nvPr/>
        </p:nvSpPr>
        <p:spPr>
          <a:xfrm>
            <a:off x="4389120" y="1097280"/>
            <a:ext cx="3474720" cy="822960"/>
          </a:xfrm>
          <a:prstGeom prst="rect">
            <a:avLst/>
          </a:prstGeom>
          <a:noFill/>
          <a:ln/>
        </p:spPr>
        <p:txBody>
          <a:bodyPr wrap="square" rtlCol="0" anchor="ctr"/>
          <a:lstStyle/>
          <a:p>
            <a:pPr algn="ctr" indent="0" marL="0">
              <a:buNone/>
            </a:pPr>
            <a:r>
              <a:rPr lang="en-US" sz="5400" b="1" dirty="0">
                <a:solidFill>
                  <a:srgbClr val="D4A843"/>
                </a:solidFill>
                <a:latin typeface="Georgia" pitchFamily="34" charset="0"/>
                <a:ea typeface="Georgia" pitchFamily="34" charset="-122"/>
                <a:cs typeface="Georgia" pitchFamily="34" charset="-120"/>
              </a:rPr>
              <a:t>63.7%</a:t>
            </a:r>
            <a:endParaRPr lang="en-US" sz="5400" dirty="0"/>
          </a:p>
        </p:txBody>
      </p:sp>
      <p:sp>
        <p:nvSpPr>
          <p:cNvPr id="8" name="Text 6"/>
          <p:cNvSpPr/>
          <p:nvPr/>
        </p:nvSpPr>
        <p:spPr>
          <a:xfrm>
            <a:off x="4389120" y="1920240"/>
            <a:ext cx="3474720" cy="59436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trigram_dwell at 10 ragas</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216 interpretable features</a:t>
            </a:r>
            <a:endParaRPr lang="en-US" sz="1200" dirty="0"/>
          </a:p>
        </p:txBody>
      </p:sp>
      <p:sp>
        <p:nvSpPr>
          <p:cNvPr id="9" name="Text 7"/>
          <p:cNvSpPr/>
          <p:nvPr/>
        </p:nvSpPr>
        <p:spPr>
          <a:xfrm>
            <a:off x="548640" y="2926080"/>
            <a:ext cx="8046720" cy="6400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MFCC captures timbral qualities (vocal texture, instrument tone). It scores below random chance, meaning timbre is not just uninformative but actively misleading. The same SVM pipeline with structural features succeeds. This confirms raga is a structural concept, not a timbral one.</a:t>
            </a:r>
            <a:endParaRPr lang="en-US" sz="1100" dirty="0"/>
          </a:p>
        </p:txBody>
      </p:sp>
      <p:sp>
        <p:nvSpPr>
          <p:cNvPr id="10" name="Shape 8"/>
          <p:cNvSpPr/>
          <p:nvPr/>
        </p:nvSpPr>
        <p:spPr>
          <a:xfrm>
            <a:off x="548640" y="3749040"/>
            <a:ext cx="2560320" cy="109728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1" name="Text 9"/>
          <p:cNvSpPr/>
          <p:nvPr/>
        </p:nvSpPr>
        <p:spPr>
          <a:xfrm>
            <a:off x="685800" y="382219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Cognitive</a:t>
            </a:r>
            <a:endParaRPr lang="en-US" sz="1100" dirty="0"/>
          </a:p>
        </p:txBody>
      </p:sp>
      <p:sp>
        <p:nvSpPr>
          <p:cNvPr id="12" name="Text 10"/>
          <p:cNvSpPr/>
          <p:nvPr/>
        </p:nvSpPr>
        <p:spPr>
          <a:xfrm>
            <a:off x="685800" y="4059936"/>
            <a:ext cx="2286000" cy="71323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Melodic structure is processed separately from timbre. Listeners identify the same raga across different voices and instruments.</a:t>
            </a:r>
            <a:endParaRPr lang="en-US" sz="1000" dirty="0"/>
          </a:p>
        </p:txBody>
      </p:sp>
      <p:sp>
        <p:nvSpPr>
          <p:cNvPr id="13" name="Shape 11"/>
          <p:cNvSpPr/>
          <p:nvPr/>
        </p:nvSpPr>
        <p:spPr>
          <a:xfrm>
            <a:off x="3291840" y="3749040"/>
            <a:ext cx="2560320" cy="109728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4" name="Text 12"/>
          <p:cNvSpPr/>
          <p:nvPr/>
        </p:nvSpPr>
        <p:spPr>
          <a:xfrm>
            <a:off x="3429000" y="382219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Musical</a:t>
            </a:r>
            <a:endParaRPr lang="en-US" sz="1100" dirty="0"/>
          </a:p>
        </p:txBody>
      </p:sp>
      <p:sp>
        <p:nvSpPr>
          <p:cNvPr id="15" name="Text 13"/>
          <p:cNvSpPr/>
          <p:nvPr/>
        </p:nvSpPr>
        <p:spPr>
          <a:xfrm>
            <a:off x="3429000" y="4059936"/>
            <a:ext cx="2286000" cy="71323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raga is defined by scale, phrases, and vadi, not by who performs it. Computational proof of a musicological axiom.</a:t>
            </a:r>
            <a:endParaRPr lang="en-US" sz="1000" dirty="0"/>
          </a:p>
        </p:txBody>
      </p:sp>
      <p:sp>
        <p:nvSpPr>
          <p:cNvPr id="16" name="Shape 14"/>
          <p:cNvSpPr/>
          <p:nvPr/>
        </p:nvSpPr>
        <p:spPr>
          <a:xfrm>
            <a:off x="6035040" y="3749040"/>
            <a:ext cx="2743200" cy="109728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7" name="Text 15"/>
          <p:cNvSpPr/>
          <p:nvPr/>
        </p:nvSpPr>
        <p:spPr>
          <a:xfrm>
            <a:off x="6172200" y="3822192"/>
            <a:ext cx="246888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ML</a:t>
            </a:r>
            <a:endParaRPr lang="en-US" sz="1100" dirty="0"/>
          </a:p>
        </p:txBody>
      </p:sp>
      <p:sp>
        <p:nvSpPr>
          <p:cNvPr id="18" name="Text 16"/>
          <p:cNvSpPr/>
          <p:nvPr/>
        </p:nvSpPr>
        <p:spPr>
          <a:xfrm>
            <a:off x="6172200" y="4059936"/>
            <a:ext cx="2468880" cy="71323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Identical pipeline, only features differ. MFCC below random = genuine absence of discriminative signal, not classifier failure.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H3: Cognitive Parsimony, Less Is More</a:t>
            </a:r>
            <a:endParaRPr lang="en-US" sz="3000" dirty="0"/>
          </a:p>
        </p:txBody>
      </p:sp>
      <p:graphicFrame>
        <p:nvGraphicFramePr>
          <p:cNvPr id="3" name="Chart 0" descr=""/>
          <p:cNvGraphicFramePr/>
          <p:nvPr/>
        </p:nvGraphicFramePr>
        <p:xfrm>
          <a:off x="274320" y="914400"/>
          <a:ext cx="5029200" cy="29260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2468880" y="914400"/>
            <a:ext cx="1280160" cy="274320"/>
          </a:xfrm>
          <a:prstGeom prst="rect">
            <a:avLst/>
          </a:prstGeom>
          <a:noFill/>
          <a:ln/>
        </p:spPr>
        <p:txBody>
          <a:bodyPr wrap="square" rtlCol="0" anchor="ctr"/>
          <a:lstStyle/>
          <a:p>
            <a:pPr indent="0" marL="0">
              <a:buNone/>
            </a:pPr>
            <a:r>
              <a:rPr lang="en-US" sz="1100" b="1" i="1" dirty="0">
                <a:solidFill>
                  <a:srgbClr val="D4A843"/>
                </a:solidFill>
                <a:latin typeface="Calibri" pitchFamily="34" charset="0"/>
                <a:ea typeface="Calibri" pitchFamily="34" charset="-122"/>
                <a:cs typeface="Calibri" pitchFamily="34" charset="-120"/>
              </a:rPr>
              <a:t>Peak: 216d</a:t>
            </a:r>
            <a:endParaRPr lang="en-US" sz="1100" dirty="0"/>
          </a:p>
        </p:txBody>
      </p:sp>
      <p:sp>
        <p:nvSpPr>
          <p:cNvPr id="5" name="Shape 2"/>
          <p:cNvSpPr/>
          <p:nvPr/>
        </p:nvSpPr>
        <p:spPr>
          <a:xfrm>
            <a:off x="5486400" y="914400"/>
            <a:ext cx="3291840" cy="1645920"/>
          </a:xfrm>
          <a:prstGeom prst="rect">
            <a:avLst/>
          </a:prstGeom>
          <a:solidFill>
            <a:srgbClr val="E8F4F8"/>
          </a:solidFill>
          <a:ln/>
          <a:effectLst>
            <a:outerShdw sx="100000" sy="100000" kx="0" ky="0" algn="bl" rotWithShape="0" blurRad="50800" dist="25400" dir="8100000">
              <a:srgbClr val="000000">
                <a:alpha val="10000"/>
              </a:srgbClr>
            </a:outerShdw>
          </a:effectLst>
        </p:spPr>
      </p:sp>
      <p:sp>
        <p:nvSpPr>
          <p:cNvPr id="6" name="Text 3"/>
          <p:cNvSpPr/>
          <p:nvPr/>
        </p:nvSpPr>
        <p:spPr>
          <a:xfrm>
            <a:off x="5623560" y="960120"/>
            <a:ext cx="3017520" cy="256032"/>
          </a:xfrm>
          <a:prstGeom prst="rect">
            <a:avLst/>
          </a:prstGeom>
          <a:noFill/>
          <a:ln/>
        </p:spPr>
        <p:txBody>
          <a:bodyPr wrap="square" rtlCol="0" anchor="ctr"/>
          <a:lstStyle/>
          <a:p>
            <a:pPr indent="0" marL="0">
              <a:buNone/>
            </a:pPr>
            <a:r>
              <a:rPr lang="en-US" sz="1200" b="1" dirty="0">
                <a:solidFill>
                  <a:srgbClr val="1B6B7D"/>
                </a:solidFill>
                <a:latin typeface="Calibri" pitchFamily="34" charset="0"/>
                <a:ea typeface="Calibri" pitchFamily="34" charset="-122"/>
                <a:cs typeface="Calibri" pitchFamily="34" charset="-120"/>
              </a:rPr>
              <a:t>Why adding features hurts:</a:t>
            </a:r>
            <a:endParaRPr lang="en-US" sz="1200" dirty="0"/>
          </a:p>
        </p:txBody>
      </p:sp>
      <p:sp>
        <p:nvSpPr>
          <p:cNvPr id="7" name="Text 4"/>
          <p:cNvSpPr/>
          <p:nvPr/>
        </p:nvSpPr>
        <p:spPr>
          <a:xfrm>
            <a:off x="5623560" y="1234440"/>
            <a:ext cx="3017520" cy="12344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PCD is redundant. Counting 'Sa&gt;Ri2&gt;Ga2' already implies Sa, Ri2, Ga2 are present. Adding PCD = 120 dimensions of noise.</a:t>
            </a:r>
            <a:endParaRPr lang="en-US" sz="1000" dirty="0"/>
          </a:p>
          <a:p>
            <a:pPr indent="0" marL="0">
              <a:buNone/>
            </a:pP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Dwell-time is the exception: it captures how long each note is held, which trigrams lose during token collapse.</a:t>
            </a:r>
            <a:endParaRPr lang="en-US" sz="1000" dirty="0"/>
          </a:p>
        </p:txBody>
      </p:sp>
      <p:sp>
        <p:nvSpPr>
          <p:cNvPr id="8" name="Text 5"/>
          <p:cNvSpPr/>
          <p:nvPr/>
        </p:nvSpPr>
        <p:spPr>
          <a:xfrm>
            <a:off x="5486400" y="2743200"/>
            <a:ext cx="3291840" cy="2011680"/>
          </a:xfrm>
          <a:prstGeom prst="rect">
            <a:avLst/>
          </a:prstGeom>
          <a:solidFill>
            <a:srgbClr val="FFFFFF"/>
          </a:solidFill>
          <a:ln/>
          <a:effectLst>
            <a:outerShdw sx="100000" sy="100000" kx="0" ky="0" algn="bl" rotWithShape="0" blurRad="50800" dist="25400" dir="8100000">
              <a:srgbClr val="000000">
                <a:alpha val="10000"/>
              </a:srgbClr>
            </a:outerShdw>
          </a:effectLst>
        </p:spPr>
        <p:txBody>
          <a:bodyPr wrap="square" rtlCol="0" anchor="ctr"/>
          <a:lstStyle/>
          <a:p>
            <a:pPr indent="0" marL="0">
              <a:buNone/>
            </a:pPr>
            <a:r>
              <a:rPr lang="en-US" sz="1000" b="1" dirty="0">
                <a:solidFill>
                  <a:srgbClr val="1B6B7D"/>
                </a:solidFill>
              </a:rPr>
              <a:t>🧠  </a:t>
            </a:r>
            <a:pPr indent="0" marL="0">
              <a:buNone/>
            </a:pPr>
            <a:r>
              <a:rPr lang="en-US" sz="1000" dirty="0">
                <a:solidFill>
                  <a:srgbClr val="2C2C2C"/>
                </a:solidFill>
              </a:rPr>
              <a:t>Mirrors Gigerenzer's 'fast and frugal heuristics'. Humans use few high-quality cues, not exhaustive processing. </a:t>
            </a:r>
            <a:pPr indent="0" marL="0">
              <a:buNone/>
            </a:pPr>
            <a:r>
              <a:rPr lang="en-US" sz="1000" b="1" dirty="0">
                <a:solidFill>
                  <a:srgbClr val="1B6B7D"/>
                </a:solidFill>
              </a:rPr>
              <a:t>🎵  </a:t>
            </a:r>
            <a:pPr indent="0" marL="0">
              <a:buNone/>
            </a:pPr>
            <a:r>
              <a:rPr lang="en-US" sz="1000" dirty="0">
                <a:solidFill>
                  <a:srgbClr val="2C2C2C"/>
                </a:solidFill>
              </a:rPr>
              <a:t>Gurus teach 2-3 key phrases + vadi, not every transition. Feature selection mirrors pedagogy. </a:t>
            </a:r>
            <a:pPr indent="0" marL="0">
              <a:buNone/>
            </a:pPr>
            <a:r>
              <a:rPr lang="en-US" sz="1000" b="1" dirty="0">
                <a:solidFill>
                  <a:srgbClr val="1B6B7D"/>
                </a:solidFill>
              </a:rPr>
              <a:t>🤖  </a:t>
            </a:r>
            <a:pPr indent="0" marL="0">
              <a:buNone/>
            </a:pPr>
            <a:r>
              <a:rPr lang="en-US" sz="1000" dirty="0">
                <a:solidFill>
                  <a:srgbClr val="2C2C2C"/>
                </a:solidFill>
              </a:rPr>
              <a:t>Curse of dimensionality with ~2,100 samples. Only non-redundant features help.</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1A2744"/>
                </a:solidFill>
                <a:latin typeface="Georgia" pitchFamily="34" charset="0"/>
                <a:ea typeface="Georgia" pitchFamily="34" charset="-122"/>
                <a:cs typeface="Georgia" pitchFamily="34" charset="-120"/>
              </a:rPr>
              <a:t>H4: Confusion Follows Melakarta Kinship</a:t>
            </a:r>
            <a:endParaRPr lang="en-US" sz="2600" dirty="0"/>
          </a:p>
        </p:txBody>
      </p:sp>
      <p:sp>
        <p:nvSpPr>
          <p:cNvPr id="3" name="Text 1"/>
          <p:cNvSpPr/>
          <p:nvPr/>
        </p:nvSpPr>
        <p:spPr>
          <a:xfrm>
            <a:off x="548640" y="960120"/>
            <a:ext cx="8046720" cy="274320"/>
          </a:xfrm>
          <a:prstGeom prst="rect">
            <a:avLst/>
          </a:prstGeom>
          <a:noFill/>
          <a:ln/>
        </p:spPr>
        <p:txBody>
          <a:bodyPr wrap="square" rtlCol="0" anchor="ctr"/>
          <a:lstStyle/>
          <a:p>
            <a:pPr indent="0" marL="0">
              <a:buNone/>
            </a:pPr>
            <a:r>
              <a:rPr lang="en-US" sz="1200" b="1" dirty="0">
                <a:solidFill>
                  <a:srgbClr val="D4A843"/>
                </a:solidFill>
                <a:latin typeface="Calibri" pitchFamily="34" charset="0"/>
                <a:ea typeface="Calibri" pitchFamily="34" charset="-122"/>
                <a:cs typeface="Calibri" pitchFamily="34" charset="-120"/>
              </a:rPr>
              <a:t>Status: Planned. Confusion matrix analysis needed this week.</a:t>
            </a:r>
            <a:endParaRPr lang="en-US" sz="1200" dirty="0"/>
          </a:p>
        </p:txBody>
      </p:sp>
      <p:sp>
        <p:nvSpPr>
          <p:cNvPr id="4" name="Text 2"/>
          <p:cNvSpPr/>
          <p:nvPr/>
        </p:nvSpPr>
        <p:spPr>
          <a:xfrm>
            <a:off x="548640" y="1325880"/>
            <a:ext cx="8046720" cy="640080"/>
          </a:xfrm>
          <a:prstGeom prst="rect">
            <a:avLst/>
          </a:prstGeom>
          <a:noFill/>
          <a:ln/>
        </p:spPr>
        <p:txBody>
          <a:bodyPr wrap="square" rtlCol="0" anchor="ctr"/>
          <a:lstStyle/>
          <a:p>
            <a:pPr indent="0" marL="0">
              <a:buNone/>
            </a:pPr>
            <a:r>
              <a:rPr lang="en-US" sz="1200" dirty="0">
                <a:solidFill>
                  <a:srgbClr val="2C2C2C"/>
                </a:solidFill>
                <a:latin typeface="Calibri" pitchFamily="34" charset="0"/>
                <a:ea typeface="Calibri" pitchFamily="34" charset="-122"/>
                <a:cs typeface="Calibri" pitchFamily="34" charset="-120"/>
              </a:rPr>
              <a:t>Prediction: When the classifier misidentifies a raga, it should confuse it with a musically related raga (same melakarta family), not a random one. If Harikambhoji gets misclassified, it should be confused with Kambhoji or Kamas (its children), not with Todi (a completely different scale).</a:t>
            </a:r>
            <a:endParaRPr lang="en-US" sz="1200" dirty="0"/>
          </a:p>
        </p:txBody>
      </p:sp>
      <p:sp>
        <p:nvSpPr>
          <p:cNvPr id="5" name="Text 3"/>
          <p:cNvSpPr/>
          <p:nvPr/>
        </p:nvSpPr>
        <p:spPr>
          <a:xfrm>
            <a:off x="548640" y="2103120"/>
            <a:ext cx="4114800" cy="320040"/>
          </a:xfrm>
          <a:prstGeom prst="rect">
            <a:avLst/>
          </a:prstGeom>
          <a:noFill/>
          <a:ln/>
        </p:spPr>
        <p:txBody>
          <a:bodyPr wrap="square" rtlCol="0" anchor="ctr"/>
          <a:lstStyle/>
          <a:p>
            <a:pPr indent="0" marL="0">
              <a:buNone/>
            </a:pPr>
            <a:r>
              <a:rPr lang="en-US" sz="1400" b="1" dirty="0">
                <a:solidFill>
                  <a:srgbClr val="1B6B7D"/>
                </a:solidFill>
                <a:latin typeface="Calibri" pitchFamily="34" charset="0"/>
                <a:ea typeface="Calibri" pitchFamily="34" charset="-122"/>
                <a:cs typeface="Calibri" pitchFamily="34" charset="-120"/>
              </a:rPr>
              <a:t>The Harikambhoji Problem Cluster</a:t>
            </a:r>
            <a:endParaRPr lang="en-US" sz="1400" dirty="0"/>
          </a:p>
        </p:txBody>
      </p:sp>
      <p:sp>
        <p:nvSpPr>
          <p:cNvPr id="6" name="Shape 4"/>
          <p:cNvSpPr/>
          <p:nvPr/>
        </p:nvSpPr>
        <p:spPr>
          <a:xfrm>
            <a:off x="1371600" y="2560320"/>
            <a:ext cx="2286000" cy="502920"/>
          </a:xfrm>
          <a:prstGeom prst="rect">
            <a:avLst/>
          </a:prstGeom>
          <a:solidFill>
            <a:srgbClr val="C0392B"/>
          </a:solidFill>
          <a:ln/>
          <a:effectLst>
            <a:outerShdw sx="100000" sy="100000" kx="0" ky="0" algn="bl" rotWithShape="0" blurRad="50800" dist="25400" dir="8100000">
              <a:srgbClr val="000000">
                <a:alpha val="10000"/>
              </a:srgbClr>
            </a:outerShdw>
          </a:effectLst>
        </p:spPr>
      </p:sp>
      <p:sp>
        <p:nvSpPr>
          <p:cNvPr id="7" name="Text 5"/>
          <p:cNvSpPr/>
          <p:nvPr/>
        </p:nvSpPr>
        <p:spPr>
          <a:xfrm>
            <a:off x="1371600" y="2560320"/>
            <a:ext cx="2286000" cy="50292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Harikambhoji (parent, 28th melakarta)</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F1: 0.13</a:t>
            </a:r>
            <a:endParaRPr lang="en-US" sz="900" dirty="0"/>
          </a:p>
        </p:txBody>
      </p:sp>
      <p:sp>
        <p:nvSpPr>
          <p:cNvPr id="8" name="Shape 6"/>
          <p:cNvSpPr/>
          <p:nvPr/>
        </p:nvSpPr>
        <p:spPr>
          <a:xfrm>
            <a:off x="274320" y="3337560"/>
            <a:ext cx="1371600" cy="457200"/>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9" name="Text 7"/>
          <p:cNvSpPr/>
          <p:nvPr/>
        </p:nvSpPr>
        <p:spPr>
          <a:xfrm>
            <a:off x="274320" y="3337560"/>
            <a:ext cx="1371600" cy="4572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Kambhoji</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F1: 0.37</a:t>
            </a:r>
            <a:endParaRPr lang="en-US" sz="900" dirty="0"/>
          </a:p>
        </p:txBody>
      </p:sp>
      <p:sp>
        <p:nvSpPr>
          <p:cNvPr id="10" name="Shape 8"/>
          <p:cNvSpPr/>
          <p:nvPr/>
        </p:nvSpPr>
        <p:spPr>
          <a:xfrm>
            <a:off x="1828800" y="3337560"/>
            <a:ext cx="1371600" cy="457200"/>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11" name="Text 9"/>
          <p:cNvSpPr/>
          <p:nvPr/>
        </p:nvSpPr>
        <p:spPr>
          <a:xfrm>
            <a:off x="1828800" y="3337560"/>
            <a:ext cx="1371600" cy="4572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Kamas</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F1: 0.36</a:t>
            </a:r>
            <a:endParaRPr lang="en-US" sz="900" dirty="0"/>
          </a:p>
        </p:txBody>
      </p:sp>
      <p:sp>
        <p:nvSpPr>
          <p:cNvPr id="12" name="Shape 10"/>
          <p:cNvSpPr/>
          <p:nvPr/>
        </p:nvSpPr>
        <p:spPr>
          <a:xfrm>
            <a:off x="3383280" y="3337560"/>
            <a:ext cx="1371600" cy="457200"/>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13" name="Text 11"/>
          <p:cNvSpPr/>
          <p:nvPr/>
        </p:nvSpPr>
        <p:spPr>
          <a:xfrm>
            <a:off x="3383280" y="3337560"/>
            <a:ext cx="1371600" cy="45720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Mohanam</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F1: 0.38</a:t>
            </a:r>
            <a:endParaRPr lang="en-US" sz="900" dirty="0"/>
          </a:p>
        </p:txBody>
      </p:sp>
      <p:sp>
        <p:nvSpPr>
          <p:cNvPr id="14" name="Shape 12"/>
          <p:cNvSpPr/>
          <p:nvPr/>
        </p:nvSpPr>
        <p:spPr>
          <a:xfrm>
            <a:off x="548640" y="4069080"/>
            <a:ext cx="4114800" cy="457200"/>
          </a:xfrm>
          <a:prstGeom prst="rect">
            <a:avLst/>
          </a:prstGeom>
          <a:solidFill>
            <a:srgbClr val="E8F4F8"/>
          </a:solidFill>
          <a:ln/>
        </p:spPr>
      </p:sp>
      <p:sp>
        <p:nvSpPr>
          <p:cNvPr id="15" name="Text 13"/>
          <p:cNvSpPr/>
          <p:nvPr/>
        </p:nvSpPr>
        <p:spPr>
          <a:xfrm>
            <a:off x="685800" y="4069080"/>
            <a:ext cx="3840480" cy="45720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Compare: Todi (different family, unique Ri1-Ga1) scores F1: 0.86. No confusion expected with Harikambhoji family.</a:t>
            </a:r>
            <a:endParaRPr lang="en-US" sz="1000" dirty="0"/>
          </a:p>
        </p:txBody>
      </p:sp>
      <p:sp>
        <p:nvSpPr>
          <p:cNvPr id="16" name="Shape 14"/>
          <p:cNvSpPr/>
          <p:nvPr/>
        </p:nvSpPr>
        <p:spPr>
          <a:xfrm>
            <a:off x="5120640" y="2103120"/>
            <a:ext cx="365760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17" name="Text 15"/>
          <p:cNvSpPr/>
          <p:nvPr/>
        </p:nvSpPr>
        <p:spPr>
          <a:xfrm>
            <a:off x="5257800" y="2148840"/>
            <a:ext cx="3383280" cy="274320"/>
          </a:xfrm>
          <a:prstGeom prst="rect">
            <a:avLst/>
          </a:prstGeom>
          <a:noFill/>
          <a:ln/>
        </p:spPr>
        <p:txBody>
          <a:bodyPr wrap="square" rtlCol="0" anchor="ctr"/>
          <a:lstStyle/>
          <a:p>
            <a:pPr indent="0" marL="0">
              <a:buNone/>
            </a:pPr>
            <a:r>
              <a:rPr lang="en-US" sz="1200" b="1" dirty="0">
                <a:solidFill>
                  <a:srgbClr val="1B6B7D"/>
                </a:solidFill>
                <a:latin typeface="Calibri" pitchFamily="34" charset="0"/>
                <a:ea typeface="Calibri" pitchFamily="34" charset="-122"/>
                <a:cs typeface="Calibri" pitchFamily="34" charset="-120"/>
              </a:rPr>
              <a:t>What we will compute:</a:t>
            </a:r>
            <a:endParaRPr lang="en-US" sz="1200" dirty="0"/>
          </a:p>
        </p:txBody>
      </p:sp>
      <p:sp>
        <p:nvSpPr>
          <p:cNvPr id="18" name="Text 16"/>
          <p:cNvSpPr/>
          <p:nvPr/>
        </p:nvSpPr>
        <p:spPr>
          <a:xfrm>
            <a:off x="5257800" y="2468880"/>
            <a:ext cx="3383280" cy="201168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1. Full confusion matrix from cross-validation predictions</a:t>
            </a:r>
            <a:endParaRPr lang="en-US" sz="1000" dirty="0"/>
          </a:p>
          <a:p>
            <a:pPr indent="0" marL="0">
              <a:buNone/>
            </a:pP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2. Within-family confusion rate: how often misclassifications stay in the same melakarta family</a:t>
            </a:r>
            <a:endParaRPr lang="en-US" sz="1000" dirty="0"/>
          </a:p>
          <a:p>
            <a:pPr indent="0" marL="0">
              <a:buNone/>
            </a:pP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3. Between-family confusion rate: how often they cross families</a:t>
            </a:r>
            <a:endParaRPr lang="en-US" sz="1000" dirty="0"/>
          </a:p>
          <a:p>
            <a:pPr indent="0" marL="0">
              <a:buNone/>
            </a:pP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4. If within &gt;&gt; between, the model's errors are musicologically sensible, meaning it has learned genuine raga similarity structure.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H5: 16 Features Capture Vadi Emphasis</a:t>
            </a:r>
            <a:endParaRPr lang="en-US" sz="3000" dirty="0"/>
          </a:p>
        </p:txBody>
      </p:sp>
      <p:sp>
        <p:nvSpPr>
          <p:cNvPr id="3" name="Shape 1"/>
          <p:cNvSpPr/>
          <p:nvPr/>
        </p:nvSpPr>
        <p:spPr>
          <a:xfrm>
            <a:off x="548640" y="1051560"/>
            <a:ext cx="3657600" cy="13716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4" name="Text 2"/>
          <p:cNvSpPr/>
          <p:nvPr/>
        </p:nvSpPr>
        <p:spPr>
          <a:xfrm>
            <a:off x="548640" y="1097280"/>
            <a:ext cx="3657600" cy="685800"/>
          </a:xfrm>
          <a:prstGeom prst="rect">
            <a:avLst/>
          </a:prstGeom>
          <a:noFill/>
          <a:ln/>
        </p:spPr>
        <p:txBody>
          <a:bodyPr wrap="square" rtlCol="0" anchor="ctr"/>
          <a:lstStyle/>
          <a:p>
            <a:pPr algn="ctr" indent="0" marL="0">
              <a:buNone/>
            </a:pPr>
            <a:r>
              <a:rPr lang="en-US" sz="3600" b="1" dirty="0">
                <a:solidFill>
                  <a:srgbClr val="D4A843"/>
                </a:solidFill>
                <a:latin typeface="Georgia" pitchFamily="34" charset="0"/>
                <a:ea typeface="Georgia" pitchFamily="34" charset="-122"/>
                <a:cs typeface="Georgia" pitchFamily="34" charset="-120"/>
              </a:rPr>
              <a:t>16 dims &gt; 53%</a:t>
            </a:r>
            <a:endParaRPr lang="en-US" sz="3600" dirty="0"/>
          </a:p>
        </p:txBody>
      </p:sp>
      <p:sp>
        <p:nvSpPr>
          <p:cNvPr id="5" name="Text 3"/>
          <p:cNvSpPr/>
          <p:nvPr/>
        </p:nvSpPr>
        <p:spPr>
          <a:xfrm>
            <a:off x="548640" y="1783080"/>
            <a:ext cx="3657600" cy="50292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7.5x above random chance (7.1%)</a:t>
            </a:r>
            <a:endParaRPr lang="en-US" sz="1200" dirty="0"/>
          </a:p>
          <a:p>
            <a:pPr algn="ctr" indent="0" marL="0">
              <a:buNone/>
            </a:pPr>
            <a:r>
              <a:rPr lang="en-US" sz="1200" dirty="0">
                <a:solidFill>
                  <a:srgbClr val="FFFFFF"/>
                </a:solidFill>
                <a:latin typeface="Calibri" pitchFamily="34" charset="0"/>
                <a:ea typeface="Calibri" pitchFamily="34" charset="-122"/>
                <a:cs typeface="Calibri" pitchFamily="34" charset="-120"/>
              </a:rPr>
              <a:t>Outperforms 120-dim PCD (50.6%)</a:t>
            </a:r>
            <a:endParaRPr lang="en-US" sz="1200" dirty="0"/>
          </a:p>
        </p:txBody>
      </p:sp>
      <p:sp>
        <p:nvSpPr>
          <p:cNvPr id="6" name="Shape 4"/>
          <p:cNvSpPr/>
          <p:nvPr/>
        </p:nvSpPr>
        <p:spPr>
          <a:xfrm>
            <a:off x="4572000" y="1051560"/>
            <a:ext cx="4206240" cy="1371600"/>
          </a:xfrm>
          <a:prstGeom prst="rect">
            <a:avLst/>
          </a:prstGeom>
          <a:solidFill>
            <a:srgbClr val="E8F4F8"/>
          </a:solidFill>
          <a:ln/>
          <a:effectLst>
            <a:outerShdw sx="100000" sy="100000" kx="0" ky="0" algn="bl" rotWithShape="0" blurRad="50800" dist="25400" dir="8100000">
              <a:srgbClr val="000000">
                <a:alpha val="10000"/>
              </a:srgbClr>
            </a:outerShdw>
          </a:effectLst>
        </p:spPr>
      </p:sp>
      <p:sp>
        <p:nvSpPr>
          <p:cNvPr id="7" name="Text 5"/>
          <p:cNvSpPr/>
          <p:nvPr/>
        </p:nvSpPr>
        <p:spPr>
          <a:xfrm>
            <a:off x="4709160" y="1097280"/>
            <a:ext cx="3931920" cy="256032"/>
          </a:xfrm>
          <a:prstGeom prst="rect">
            <a:avLst/>
          </a:prstGeom>
          <a:noFill/>
          <a:ln/>
        </p:spPr>
        <p:txBody>
          <a:bodyPr wrap="square" rtlCol="0" anchor="ctr"/>
          <a:lstStyle/>
          <a:p>
            <a:pPr indent="0" marL="0">
              <a:buNone/>
            </a:pPr>
            <a:r>
              <a:rPr lang="en-US" sz="1200" b="1" dirty="0">
                <a:solidFill>
                  <a:srgbClr val="1B6B7D"/>
                </a:solidFill>
                <a:latin typeface="Calibri" pitchFamily="34" charset="0"/>
                <a:ea typeface="Calibri" pitchFamily="34" charset="-122"/>
                <a:cs typeface="Calibri" pitchFamily="34" charset="-120"/>
              </a:rPr>
              <a:t>What the 16 features are:</a:t>
            </a:r>
            <a:endParaRPr lang="en-US" sz="1200" dirty="0"/>
          </a:p>
        </p:txBody>
      </p:sp>
      <p:sp>
        <p:nvSpPr>
          <p:cNvPr id="8" name="Text 6"/>
          <p:cNvSpPr/>
          <p:nvPr/>
        </p:nvSpPr>
        <p:spPr>
          <a:xfrm>
            <a:off x="4709160" y="1371600"/>
            <a:ext cx="3931920" cy="914400"/>
          </a:xfrm>
          <a:prstGeom prst="rect">
            <a:avLst/>
          </a:prstGeom>
          <a:noFill/>
          <a:ln/>
        </p:spPr>
        <p:txBody>
          <a:bodyPr wrap="square" rtlCol="0" anchor="ctr"/>
          <a:lstStyle/>
          <a:p>
            <a:pPr indent="0" marL="0">
              <a:buNone/>
            </a:pPr>
            <a:r>
              <a:rPr lang="en-US" sz="1100" b="1" dirty="0">
                <a:solidFill>
                  <a:srgbClr val="000000"/>
                </a:solidFill>
              </a:rPr>
              <a:t>12 dims: </a:t>
            </a:r>
            <a:pPr indent="0" marL="0">
              <a:buNone/>
            </a:pPr>
            <a:r>
              <a:rPr lang="en-US" sz="1100" dirty="0">
                <a:solidFill>
                  <a:srgbClr val="000000"/>
                </a:solidFill>
              </a:rPr>
              <a:t>Mean dwell-time per swara. How long each of the 12 notes is held on average per segment.</a:t>
            </a:r>
            <a:endParaRPr lang="en-US" sz="1100" dirty="0"/>
          </a:p>
          <a:p>
            <a:pPr indent="0" marL="0">
              <a:buNone/>
            </a:pPr>
            <a:endParaRPr lang="en-US" sz="1100" dirty="0"/>
          </a:p>
          <a:p>
            <a:pPr indent="0" marL="0">
              <a:buNone/>
            </a:pPr>
            <a:r>
              <a:rPr lang="en-US" sz="1100" b="1" dirty="0">
                <a:solidFill>
                  <a:srgbClr val="000000"/>
                </a:solidFill>
              </a:rPr>
              <a:t>4 dims: </a:t>
            </a:r>
            <a:endParaRPr lang="en-US" sz="1100" dirty="0"/>
          </a:p>
          <a:p>
            <a:pPr indent="0" marL="0">
              <a:buNone/>
            </a:pPr>
            <a:r>
              <a:rPr lang="en-US" sz="1100" dirty="0">
                <a:solidFill>
                  <a:srgbClr val="000000"/>
                </a:solidFill>
              </a:rPr>
              <a:t>Vadi index + fraction, Samvadi index + fraction. Which notes dominate and by how much.</a:t>
            </a:r>
            <a:endParaRPr lang="en-US" sz="1100" dirty="0"/>
          </a:p>
        </p:txBody>
      </p:sp>
      <p:sp>
        <p:nvSpPr>
          <p:cNvPr id="9" name="Text 7"/>
          <p:cNvSpPr/>
          <p:nvPr/>
        </p:nvSpPr>
        <p:spPr>
          <a:xfrm>
            <a:off x="548640" y="2651760"/>
            <a:ext cx="8046720" cy="5029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Harikambhoji is interesting here: dwell_vadi scores 0.25 F1 vs trigrams at 0.12 F1. For a raga with no distinctive phrases, emphasis patterns (which notes are held longer) carry more information than sequence patterns.</a:t>
            </a:r>
            <a:endParaRPr lang="en-US" sz="1100" dirty="0"/>
          </a:p>
        </p:txBody>
      </p:sp>
      <p:sp>
        <p:nvSpPr>
          <p:cNvPr id="10" name="Shape 8"/>
          <p:cNvSpPr/>
          <p:nvPr/>
        </p:nvSpPr>
        <p:spPr>
          <a:xfrm>
            <a:off x="548640" y="3337560"/>
            <a:ext cx="2560320" cy="146304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1" name="Text 9"/>
          <p:cNvSpPr/>
          <p:nvPr/>
        </p:nvSpPr>
        <p:spPr>
          <a:xfrm>
            <a:off x="685800" y="341071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Cognitive</a:t>
            </a:r>
            <a:endParaRPr lang="en-US" sz="1100" dirty="0"/>
          </a:p>
        </p:txBody>
      </p:sp>
      <p:sp>
        <p:nvSpPr>
          <p:cNvPr id="12" name="Text 10"/>
          <p:cNvSpPr/>
          <p:nvPr/>
        </p:nvSpPr>
        <p:spPr>
          <a:xfrm>
            <a:off x="685800" y="3648456"/>
            <a:ext cx="2286000" cy="107899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Note emphasis (duration + frequency) is a genuine perceptual cue for raga recognition. Not just which notes appear, but which ones dominate.</a:t>
            </a:r>
            <a:endParaRPr lang="en-US" sz="1000" dirty="0"/>
          </a:p>
        </p:txBody>
      </p:sp>
      <p:sp>
        <p:nvSpPr>
          <p:cNvPr id="13" name="Shape 11"/>
          <p:cNvSpPr/>
          <p:nvPr/>
        </p:nvSpPr>
        <p:spPr>
          <a:xfrm>
            <a:off x="3291840" y="3337560"/>
            <a:ext cx="2560320" cy="146304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4" name="Text 12"/>
          <p:cNvSpPr/>
          <p:nvPr/>
        </p:nvSpPr>
        <p:spPr>
          <a:xfrm>
            <a:off x="3429000" y="341071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Musical</a:t>
            </a:r>
            <a:endParaRPr lang="en-US" sz="1100" dirty="0"/>
          </a:p>
        </p:txBody>
      </p:sp>
      <p:sp>
        <p:nvSpPr>
          <p:cNvPr id="15" name="Text 13"/>
          <p:cNvSpPr/>
          <p:nvPr/>
        </p:nvSpPr>
        <p:spPr>
          <a:xfrm>
            <a:off x="3429000" y="3648456"/>
            <a:ext cx="2286000" cy="107899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Vadi = 'king swara', the note performers return to and sustain. Our operational vadi (max dwell-time) computationally captures this concept.</a:t>
            </a:r>
            <a:endParaRPr lang="en-US" sz="1000" dirty="0"/>
          </a:p>
        </p:txBody>
      </p:sp>
      <p:sp>
        <p:nvSpPr>
          <p:cNvPr id="16" name="Shape 14"/>
          <p:cNvSpPr/>
          <p:nvPr/>
        </p:nvSpPr>
        <p:spPr>
          <a:xfrm>
            <a:off x="6035040" y="3337560"/>
            <a:ext cx="2743200" cy="146304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7" name="Text 15"/>
          <p:cNvSpPr/>
          <p:nvPr/>
        </p:nvSpPr>
        <p:spPr>
          <a:xfrm>
            <a:off x="6172200" y="3410712"/>
            <a:ext cx="246888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ML</a:t>
            </a:r>
            <a:endParaRPr lang="en-US" sz="1100" dirty="0"/>
          </a:p>
        </p:txBody>
      </p:sp>
      <p:sp>
        <p:nvSpPr>
          <p:cNvPr id="18" name="Text 16"/>
          <p:cNvSpPr/>
          <p:nvPr/>
        </p:nvSpPr>
        <p:spPr>
          <a:xfrm>
            <a:off x="6172200" y="3648456"/>
            <a:ext cx="2468880" cy="107899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16 dims at 53% = extreme feature efficiency. The SVM uses gamma=0.01 (not 'scale') to adapt to the low-dimensional space.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1A2744"/>
                </a:solidFill>
                <a:latin typeface="Georgia" pitchFamily="34" charset="0"/>
                <a:ea typeface="Georgia" pitchFamily="34" charset="-122"/>
                <a:cs typeface="Georgia" pitchFamily="34" charset="-120"/>
              </a:rPr>
              <a:t>H6: Directional Encoding, Negative Result</a:t>
            </a:r>
            <a:endParaRPr lang="en-US" sz="2600" dirty="0"/>
          </a:p>
        </p:txBody>
      </p:sp>
      <p:sp>
        <p:nvSpPr>
          <p:cNvPr id="3" name="Shape 1"/>
          <p:cNvSpPr/>
          <p:nvPr/>
        </p:nvSpPr>
        <p:spPr>
          <a:xfrm>
            <a:off x="548640" y="1005840"/>
            <a:ext cx="3840480" cy="1097280"/>
          </a:xfrm>
          <a:prstGeom prst="rect">
            <a:avLst/>
          </a:prstGeom>
          <a:solidFill>
            <a:srgbClr val="E8F4F8"/>
          </a:solidFill>
          <a:ln/>
          <a:effectLst>
            <a:outerShdw sx="100000" sy="100000" kx="0" ky="0" algn="bl" rotWithShape="0" blurRad="50800" dist="25400" dir="8100000">
              <a:srgbClr val="000000">
                <a:alpha val="10000"/>
              </a:srgbClr>
            </a:outerShdw>
          </a:effectLst>
        </p:spPr>
      </p:sp>
      <p:sp>
        <p:nvSpPr>
          <p:cNvPr id="4" name="Text 2"/>
          <p:cNvSpPr/>
          <p:nvPr/>
        </p:nvSpPr>
        <p:spPr>
          <a:xfrm>
            <a:off x="685800" y="1051560"/>
            <a:ext cx="3566160" cy="27432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Result: Negative</a:t>
            </a:r>
            <a:endParaRPr lang="en-US" sz="1300" dirty="0"/>
          </a:p>
        </p:txBody>
      </p:sp>
      <p:sp>
        <p:nvSpPr>
          <p:cNvPr id="5" name="Text 3"/>
          <p:cNvSpPr/>
          <p:nvPr/>
        </p:nvSpPr>
        <p:spPr>
          <a:xfrm>
            <a:off x="685800" y="1325880"/>
            <a:ext cx="3566160" cy="68580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Directional PCD (408d): 0.5600</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Directional full (418d): 0.5510</a:t>
            </a: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Plain trigrams (200d): 0.5795</a:t>
            </a:r>
            <a:endParaRPr lang="en-US" sz="1100" dirty="0"/>
          </a:p>
          <a:p>
            <a:pPr indent="0" marL="0">
              <a:buNone/>
            </a:pPr>
            <a:endParaRPr lang="en-US" sz="1100" dirty="0"/>
          </a:p>
          <a:p>
            <a:pPr indent="0" marL="0">
              <a:buNone/>
            </a:pPr>
            <a:r>
              <a:rPr lang="en-US" sz="1100" dirty="0">
                <a:solidFill>
                  <a:srgbClr val="2C2C2C"/>
                </a:solidFill>
                <a:latin typeface="Calibri" pitchFamily="34" charset="0"/>
                <a:ea typeface="Calibri" pitchFamily="34" charset="-122"/>
                <a:cs typeface="Calibri" pitchFamily="34" charset="-120"/>
              </a:rPr>
              <a:t>More dimensions, worse accuracy.</a:t>
            </a:r>
            <a:endParaRPr lang="en-US" sz="1100" dirty="0"/>
          </a:p>
        </p:txBody>
      </p:sp>
      <p:sp>
        <p:nvSpPr>
          <p:cNvPr id="6" name="Shape 4"/>
          <p:cNvSpPr/>
          <p:nvPr/>
        </p:nvSpPr>
        <p:spPr>
          <a:xfrm>
            <a:off x="4754880" y="1005840"/>
            <a:ext cx="4023360" cy="109728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4892040" y="1051560"/>
            <a:ext cx="3749040" cy="256032"/>
          </a:xfrm>
          <a:prstGeom prst="rect">
            <a:avLst/>
          </a:prstGeom>
          <a:noFill/>
          <a:ln/>
        </p:spPr>
        <p:txBody>
          <a:bodyPr wrap="square" rtlCol="0" anchor="ctr"/>
          <a:lstStyle/>
          <a:p>
            <a:pPr indent="0" marL="0">
              <a:buNone/>
            </a:pPr>
            <a:r>
              <a:rPr lang="en-US" sz="1300" b="1" dirty="0">
                <a:solidFill>
                  <a:srgbClr val="1B6B7D"/>
                </a:solidFill>
                <a:latin typeface="Calibri" pitchFamily="34" charset="0"/>
                <a:ea typeface="Calibri" pitchFamily="34" charset="-122"/>
                <a:cs typeface="Calibri" pitchFamily="34" charset="-120"/>
              </a:rPr>
              <a:t>Why it failed:</a:t>
            </a:r>
            <a:endParaRPr lang="en-US" sz="1300" dirty="0"/>
          </a:p>
        </p:txBody>
      </p:sp>
      <p:sp>
        <p:nvSpPr>
          <p:cNvPr id="8" name="Text 6"/>
          <p:cNvSpPr/>
          <p:nvPr/>
        </p:nvSpPr>
        <p:spPr>
          <a:xfrm>
            <a:off x="4892040" y="1325880"/>
            <a:ext cx="3749040" cy="73152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1. Splitting transitions into ascending/descending doubles the matrix (144 to 288 dims) without doubling information.</a:t>
            </a: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2. Carnatic gamakas blur the ascending/descending distinction.</a:t>
            </a: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3. Trigram sequences already encode direction implicitly.</a:t>
            </a:r>
            <a:endParaRPr lang="en-US" sz="1000" dirty="0"/>
          </a:p>
        </p:txBody>
      </p:sp>
      <p:sp>
        <p:nvSpPr>
          <p:cNvPr id="9" name="Text 7"/>
          <p:cNvSpPr/>
          <p:nvPr/>
        </p:nvSpPr>
        <p:spPr>
          <a:xfrm>
            <a:off x="548640" y="2286000"/>
            <a:ext cx="8046720" cy="64008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This is an informative negative: direction (arohana/avarohana) is taught as a defining raga property, but in practice, gamakas make the ascending/descending decomposition perceptually incoherent for Carnatic music. Not all musicological concepts translate to useful computational features.</a:t>
            </a:r>
            <a:endParaRPr lang="en-US" sz="1100" dirty="0"/>
          </a:p>
        </p:txBody>
      </p:sp>
      <p:sp>
        <p:nvSpPr>
          <p:cNvPr id="10" name="Shape 8"/>
          <p:cNvSpPr/>
          <p:nvPr/>
        </p:nvSpPr>
        <p:spPr>
          <a:xfrm>
            <a:off x="548640" y="3154680"/>
            <a:ext cx="2560320" cy="164592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1" name="Text 9"/>
          <p:cNvSpPr/>
          <p:nvPr/>
        </p:nvSpPr>
        <p:spPr>
          <a:xfrm>
            <a:off x="685800" y="322783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Cognitive</a:t>
            </a:r>
            <a:endParaRPr lang="en-US" sz="1100" dirty="0"/>
          </a:p>
        </p:txBody>
      </p:sp>
      <p:sp>
        <p:nvSpPr>
          <p:cNvPr id="12" name="Text 10"/>
          <p:cNvSpPr/>
          <p:nvPr/>
        </p:nvSpPr>
        <p:spPr>
          <a:xfrm>
            <a:off x="685800" y="3465576"/>
            <a:ext cx="2286000" cy="126187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Direction is not an independently strong perceptual cue in Carnatic context. Listeners process melodic contour holistically, not as separate ascending/descending channels.</a:t>
            </a:r>
            <a:endParaRPr lang="en-US" sz="1000" dirty="0"/>
          </a:p>
        </p:txBody>
      </p:sp>
      <p:sp>
        <p:nvSpPr>
          <p:cNvPr id="13" name="Shape 11"/>
          <p:cNvSpPr/>
          <p:nvPr/>
        </p:nvSpPr>
        <p:spPr>
          <a:xfrm>
            <a:off x="3291840" y="3154680"/>
            <a:ext cx="2560320" cy="164592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4" name="Text 12"/>
          <p:cNvSpPr/>
          <p:nvPr/>
        </p:nvSpPr>
        <p:spPr>
          <a:xfrm>
            <a:off x="3429000" y="322783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Musical</a:t>
            </a:r>
            <a:endParaRPr lang="en-US" sz="1100" dirty="0"/>
          </a:p>
        </p:txBody>
      </p:sp>
      <p:sp>
        <p:nvSpPr>
          <p:cNvPr id="15" name="Text 13"/>
          <p:cNvSpPr/>
          <p:nvPr/>
        </p:nvSpPr>
        <p:spPr>
          <a:xfrm>
            <a:off x="3429000" y="3465576"/>
            <a:ext cx="2286000" cy="126187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Arohana/avarohana are taught as distinct, but performance features heavy gamaka that connects them. The boundary between ascending and descending is fluid.</a:t>
            </a:r>
            <a:endParaRPr lang="en-US" sz="1000" dirty="0"/>
          </a:p>
        </p:txBody>
      </p:sp>
      <p:sp>
        <p:nvSpPr>
          <p:cNvPr id="16" name="Shape 14"/>
          <p:cNvSpPr/>
          <p:nvPr/>
        </p:nvSpPr>
        <p:spPr>
          <a:xfrm>
            <a:off x="6035040" y="3154680"/>
            <a:ext cx="2743200" cy="164592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7" name="Text 15"/>
          <p:cNvSpPr/>
          <p:nvPr/>
        </p:nvSpPr>
        <p:spPr>
          <a:xfrm>
            <a:off x="6172200" y="3227832"/>
            <a:ext cx="246888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ML</a:t>
            </a:r>
            <a:endParaRPr lang="en-US" sz="1100" dirty="0"/>
          </a:p>
        </p:txBody>
      </p:sp>
      <p:sp>
        <p:nvSpPr>
          <p:cNvPr id="18" name="Text 16"/>
          <p:cNvSpPr/>
          <p:nvPr/>
        </p:nvSpPr>
        <p:spPr>
          <a:xfrm>
            <a:off x="6172200" y="3465576"/>
            <a:ext cx="2468880" cy="126187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Doubling the transition matrix (144 to 288 dims) doubles parameter space without proportional information gain. Classic sparsity problem with ~2,100 samples.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H7: Longer Context Improves Recognition</a:t>
            </a:r>
            <a:endParaRPr lang="en-US" sz="3000" dirty="0"/>
          </a:p>
        </p:txBody>
      </p:sp>
      <p:sp>
        <p:nvSpPr>
          <p:cNvPr id="3" name="Shape 1"/>
          <p:cNvSpPr/>
          <p:nvPr/>
        </p:nvSpPr>
        <p:spPr>
          <a:xfrm>
            <a:off x="548640" y="1005840"/>
            <a:ext cx="4023360" cy="1828800"/>
          </a:xfrm>
          <a:prstGeom prst="rect">
            <a:avLst/>
          </a:prstGeom>
          <a:solidFill>
            <a:srgbClr val="1A2744"/>
          </a:solidFill>
          <a:ln/>
          <a:effectLst>
            <a:outerShdw sx="100000" sy="100000" kx="0" ky="0" algn="bl" rotWithShape="0" blurRad="76200" dist="25400" dir="8100000">
              <a:srgbClr val="000000">
                <a:alpha val="12000"/>
              </a:srgbClr>
            </a:outerShdw>
          </a:effectLst>
        </p:spPr>
      </p:sp>
      <p:sp>
        <p:nvSpPr>
          <p:cNvPr id="4" name="Text 2"/>
          <p:cNvSpPr/>
          <p:nvPr/>
        </p:nvSpPr>
        <p:spPr>
          <a:xfrm>
            <a:off x="685800" y="1051560"/>
            <a:ext cx="3749040" cy="274320"/>
          </a:xfrm>
          <a:prstGeom prst="rect">
            <a:avLst/>
          </a:prstGeom>
          <a:noFill/>
          <a:ln/>
        </p:spPr>
        <p:txBody>
          <a:bodyPr wrap="square" rtlCol="0" anchor="ctr"/>
          <a:lstStyle/>
          <a:p>
            <a:pPr indent="0" marL="0">
              <a:buNone/>
            </a:pPr>
            <a:r>
              <a:rPr lang="en-US" sz="1300" b="1" dirty="0">
                <a:solidFill>
                  <a:srgbClr val="D4A843"/>
                </a:solidFill>
                <a:latin typeface="Calibri" pitchFamily="34" charset="0"/>
                <a:ea typeface="Calibri" pitchFamily="34" charset="-122"/>
                <a:cs typeface="Calibri" pitchFamily="34" charset="-120"/>
              </a:rPr>
              <a:t>Track Voting Gains (10 ragas)</a:t>
            </a:r>
            <a:endParaRPr lang="en-US" sz="1300" dirty="0"/>
          </a:p>
        </p:txBody>
      </p:sp>
      <p:sp>
        <p:nvSpPr>
          <p:cNvPr id="5" name="Text 3"/>
          <p:cNvSpPr/>
          <p:nvPr/>
        </p:nvSpPr>
        <p:spPr>
          <a:xfrm>
            <a:off x="685800" y="1371600"/>
            <a:ext cx="3749040" cy="1188720"/>
          </a:xfrm>
          <a:prstGeom prst="rect">
            <a:avLst/>
          </a:prstGeom>
          <a:noFill/>
          <a:ln/>
        </p:spPr>
        <p:txBody>
          <a:bodyPr wrap="square" rtlCol="0" anchor="ctr"/>
          <a:lstStyle/>
          <a:p>
            <a:pPr indent="0" marL="0">
              <a:buNone/>
            </a:pPr>
            <a:r>
              <a:rPr lang="en-US" sz="1200" b="1" dirty="0">
                <a:solidFill>
                  <a:srgbClr val="FFFFFF"/>
                </a:solidFill>
              </a:rPr>
              <a:t>trigram_dwell: </a:t>
            </a:r>
            <a:pPr indent="0" marL="0">
              <a:buNone/>
            </a:pPr>
            <a:r>
              <a:rPr lang="en-US" sz="1200" dirty="0">
                <a:solidFill>
                  <a:srgbClr val="FFFFFF"/>
                </a:solidFill>
              </a:rPr>
              <a:t>+6.3% (0.637 seg &gt; 0.700 trk)
</a:t>
            </a:r>
            <a:endParaRPr lang="en-US" sz="1200" dirty="0"/>
          </a:p>
          <a:p>
            <a:pPr indent="0" marL="0">
              <a:buNone/>
            </a:pPr>
            <a:r>
              <a:rPr lang="en-US" sz="1200" b="1" dirty="0">
                <a:solidFill>
                  <a:srgbClr val="FFFFFF"/>
                </a:solidFill>
              </a:rPr>
              <a:t>trigram: </a:t>
            </a:r>
            <a:pPr indent="0" marL="0">
              <a:buNone/>
            </a:pPr>
            <a:r>
              <a:rPr lang="en-US" sz="1200" dirty="0">
                <a:solidFill>
                  <a:srgbClr val="FFFFFF"/>
                </a:solidFill>
              </a:rPr>
              <a:t>+7.9% (0.621 seg &gt; 0.700 trk)
</a:t>
            </a:r>
            <a:endParaRPr lang="en-US" sz="1200" dirty="0"/>
          </a:p>
          <a:p>
            <a:pPr indent="0" marL="0">
              <a:buNone/>
            </a:pPr>
            <a:r>
              <a:rPr lang="en-US" sz="1200" b="1" dirty="0">
                <a:solidFill>
                  <a:srgbClr val="FFFFFF"/>
                </a:solidFill>
              </a:rPr>
              <a:t>dwell_vadi: </a:t>
            </a:r>
            <a:pPr indent="0" marL="0">
              <a:buNone/>
            </a:pPr>
            <a:r>
              <a:rPr lang="en-US" sz="1200" dirty="0">
                <a:solidFill>
                  <a:srgbClr val="FFFFFF"/>
                </a:solidFill>
              </a:rPr>
              <a:t>+4.7% (0.603 seg &gt; 0.650 trk)</a:t>
            </a:r>
            <a:endParaRPr lang="en-US" sz="1200" dirty="0"/>
          </a:p>
        </p:txBody>
      </p:sp>
      <p:sp>
        <p:nvSpPr>
          <p:cNvPr id="6" name="Shape 4"/>
          <p:cNvSpPr/>
          <p:nvPr/>
        </p:nvSpPr>
        <p:spPr>
          <a:xfrm>
            <a:off x="4937760" y="1005840"/>
            <a:ext cx="3840480" cy="182880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7" name="Text 5"/>
          <p:cNvSpPr/>
          <p:nvPr/>
        </p:nvSpPr>
        <p:spPr>
          <a:xfrm>
            <a:off x="5074920" y="1051560"/>
            <a:ext cx="3566160" cy="256032"/>
          </a:xfrm>
          <a:prstGeom prst="rect">
            <a:avLst/>
          </a:prstGeom>
          <a:noFill/>
          <a:ln/>
        </p:spPr>
        <p:txBody>
          <a:bodyPr wrap="square" rtlCol="0" anchor="ctr"/>
          <a:lstStyle/>
          <a:p>
            <a:pPr indent="0" marL="0">
              <a:buNone/>
            </a:pPr>
            <a:r>
              <a:rPr lang="en-US" sz="1200" b="1" dirty="0">
                <a:solidFill>
                  <a:srgbClr val="1B6B7D"/>
                </a:solidFill>
                <a:latin typeface="Calibri" pitchFamily="34" charset="0"/>
                <a:ea typeface="Calibri" pitchFamily="34" charset="-122"/>
                <a:cs typeface="Calibri" pitchFamily="34" charset="-120"/>
              </a:rPr>
              <a:t>How track voting works:</a:t>
            </a:r>
            <a:endParaRPr lang="en-US" sz="1200" dirty="0"/>
          </a:p>
        </p:txBody>
      </p:sp>
      <p:sp>
        <p:nvSpPr>
          <p:cNvPr id="8" name="Text 6"/>
          <p:cNvSpPr/>
          <p:nvPr/>
        </p:nvSpPr>
        <p:spPr>
          <a:xfrm>
            <a:off x="5074920" y="1325880"/>
            <a:ext cx="3566160" cy="137160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Each track has multiple 30-second segments. We classify every segment independently, then take the majority vote across all segments for the final track prediction.</a:t>
            </a:r>
            <a:endParaRPr lang="en-US" sz="1000" dirty="0"/>
          </a:p>
          <a:p>
            <a:pPr indent="0" marL="0">
              <a:buNone/>
            </a:pPr>
            <a:endParaRPr lang="en-US" sz="1000" dirty="0"/>
          </a:p>
          <a:p>
            <a:pPr indent="0" marL="0">
              <a:buNone/>
            </a:pPr>
            <a:r>
              <a:rPr lang="en-US" sz="1000" dirty="0">
                <a:solidFill>
                  <a:srgbClr val="2C2C2C"/>
                </a:solidFill>
                <a:latin typeface="Calibri" pitchFamily="34" charset="0"/>
                <a:ea typeface="Calibri" pitchFamily="34" charset="-122"/>
                <a:cs typeface="Calibri" pitchFamily="34" charset="-120"/>
              </a:rPr>
              <a:t>The fact that voting helps significantly (+6-8%) means segment errors are random noise, not systematic. Some segments are ambiguous, but across a full performance, the raga's identity emerges.</a:t>
            </a:r>
            <a:endParaRPr lang="en-US" sz="1000" dirty="0"/>
          </a:p>
        </p:txBody>
      </p:sp>
      <p:sp>
        <p:nvSpPr>
          <p:cNvPr id="9" name="Text 7"/>
          <p:cNvSpPr/>
          <p:nvPr/>
        </p:nvSpPr>
        <p:spPr>
          <a:xfrm>
            <a:off x="548640" y="3063240"/>
            <a:ext cx="8046720" cy="502920"/>
          </a:xfrm>
          <a:prstGeom prst="rect">
            <a:avLst/>
          </a:prstGeom>
          <a:noFill/>
          <a:ln/>
        </p:spPr>
        <p:txBody>
          <a:bodyPr wrap="square"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The 14-to-10 raga jump is even more dramatic: track accuracy goes from 58.5% to 70.0% (+11.5%), while segment accuracy only rises +3.5%. This is because the four dropped ragas had very few tracks (2-4 each), which distorted the majority vote.</a:t>
            </a:r>
            <a:endParaRPr lang="en-US" sz="1100" dirty="0"/>
          </a:p>
        </p:txBody>
      </p:sp>
      <p:sp>
        <p:nvSpPr>
          <p:cNvPr id="10" name="Shape 8"/>
          <p:cNvSpPr/>
          <p:nvPr/>
        </p:nvSpPr>
        <p:spPr>
          <a:xfrm>
            <a:off x="548640" y="3749040"/>
            <a:ext cx="2560320" cy="109728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1" name="Text 9"/>
          <p:cNvSpPr/>
          <p:nvPr/>
        </p:nvSpPr>
        <p:spPr>
          <a:xfrm>
            <a:off x="685800" y="382219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Cognitive</a:t>
            </a:r>
            <a:endParaRPr lang="en-US" sz="1100" dirty="0"/>
          </a:p>
        </p:txBody>
      </p:sp>
      <p:sp>
        <p:nvSpPr>
          <p:cNvPr id="12" name="Text 10"/>
          <p:cNvSpPr/>
          <p:nvPr/>
        </p:nvSpPr>
        <p:spPr>
          <a:xfrm>
            <a:off x="685800" y="4059936"/>
            <a:ext cx="2286000" cy="71323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Models evidence accumulation. Listeners are uncertain from a brief excerpt; confidence builds over time. Parallels drift-diffusion models of decision-making.</a:t>
            </a:r>
            <a:endParaRPr lang="en-US" sz="1000" dirty="0"/>
          </a:p>
        </p:txBody>
      </p:sp>
      <p:sp>
        <p:nvSpPr>
          <p:cNvPr id="13" name="Shape 11"/>
          <p:cNvSpPr/>
          <p:nvPr/>
        </p:nvSpPr>
        <p:spPr>
          <a:xfrm>
            <a:off x="3291840" y="3749040"/>
            <a:ext cx="2560320" cy="109728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4" name="Text 12"/>
          <p:cNvSpPr/>
          <p:nvPr/>
        </p:nvSpPr>
        <p:spPr>
          <a:xfrm>
            <a:off x="3429000" y="3822192"/>
            <a:ext cx="228600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Musical</a:t>
            </a:r>
            <a:endParaRPr lang="en-US" sz="1100" dirty="0"/>
          </a:p>
        </p:txBody>
      </p:sp>
      <p:sp>
        <p:nvSpPr>
          <p:cNvPr id="15" name="Text 13"/>
          <p:cNvSpPr/>
          <p:nvPr/>
        </p:nvSpPr>
        <p:spPr>
          <a:xfrm>
            <a:off x="3429000" y="4059936"/>
            <a:ext cx="2286000" cy="71323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Performances begin with slow alap that may not reveal the raga. A full performance guarantees characteristic material appears.</a:t>
            </a:r>
            <a:endParaRPr lang="en-US" sz="1000" dirty="0"/>
          </a:p>
        </p:txBody>
      </p:sp>
      <p:sp>
        <p:nvSpPr>
          <p:cNvPr id="16" name="Shape 14"/>
          <p:cNvSpPr/>
          <p:nvPr/>
        </p:nvSpPr>
        <p:spPr>
          <a:xfrm>
            <a:off x="6035040" y="3749040"/>
            <a:ext cx="2743200" cy="1097280"/>
          </a:xfrm>
          <a:prstGeom prst="rect">
            <a:avLst/>
          </a:prstGeom>
          <a:solidFill>
            <a:srgbClr val="1A2744"/>
          </a:solidFill>
          <a:ln/>
          <a:effectLst>
            <a:outerShdw sx="100000" sy="100000" kx="0" ky="0" algn="bl" rotWithShape="0" blurRad="50800" dist="25400" dir="8100000">
              <a:srgbClr val="000000">
                <a:alpha val="10000"/>
              </a:srgbClr>
            </a:outerShdw>
          </a:effectLst>
        </p:spPr>
      </p:sp>
      <p:sp>
        <p:nvSpPr>
          <p:cNvPr id="17" name="Text 15"/>
          <p:cNvSpPr/>
          <p:nvPr/>
        </p:nvSpPr>
        <p:spPr>
          <a:xfrm>
            <a:off x="6172200" y="3822192"/>
            <a:ext cx="2468880" cy="237744"/>
          </a:xfrm>
          <a:prstGeom prst="rect">
            <a:avLst/>
          </a:prstGeom>
          <a:noFill/>
          <a:ln/>
        </p:spPr>
        <p:txBody>
          <a:bodyPr wrap="square" rtlCol="0" anchor="ctr"/>
          <a:lstStyle/>
          <a:p>
            <a:pPr indent="0" marL="0">
              <a:buNone/>
            </a:pPr>
            <a:r>
              <a:rPr lang="en-US" sz="1100" b="1" dirty="0">
                <a:solidFill>
                  <a:srgbClr val="B5636A"/>
                </a:solidFill>
                <a:latin typeface="Calibri" pitchFamily="34" charset="0"/>
                <a:ea typeface="Calibri" pitchFamily="34" charset="-122"/>
                <a:cs typeface="Calibri" pitchFamily="34" charset="-120"/>
              </a:rPr>
              <a:t>🤖 ML</a:t>
            </a:r>
            <a:endParaRPr lang="en-US" sz="1100" dirty="0"/>
          </a:p>
        </p:txBody>
      </p:sp>
      <p:sp>
        <p:nvSpPr>
          <p:cNvPr id="18" name="Text 16"/>
          <p:cNvSpPr/>
          <p:nvPr/>
        </p:nvSpPr>
        <p:spPr>
          <a:xfrm>
            <a:off x="6172200" y="4059936"/>
            <a:ext cx="2468880" cy="713232"/>
          </a:xfrm>
          <a:prstGeom prst="rect">
            <a:avLst/>
          </a:prstGeom>
          <a:noFill/>
          <a:ln/>
        </p:spPr>
        <p:txBody>
          <a:bodyPr wrap="square"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Majority voting reduces variance. Its effectiveness shows segment errors are noise (random bad segments), not systematic misclassification.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Experiments and Ablations</a:t>
            </a:r>
            <a:endParaRPr lang="en-US" sz="3000" dirty="0"/>
          </a:p>
        </p:txBody>
      </p:sp>
      <p:sp>
        <p:nvSpPr>
          <p:cNvPr id="3" name="Shape 1"/>
          <p:cNvSpPr/>
          <p:nvPr/>
        </p:nvSpPr>
        <p:spPr>
          <a:xfrm>
            <a:off x="548640" y="1005840"/>
            <a:ext cx="8046720" cy="548640"/>
          </a:xfrm>
          <a:prstGeom prst="rect">
            <a:avLst/>
          </a:prstGeom>
          <a:solidFill>
            <a:srgbClr val="E8F4F8"/>
          </a:solidFill>
          <a:ln/>
        </p:spPr>
      </p:sp>
      <p:sp>
        <p:nvSpPr>
          <p:cNvPr id="4" name="Text 2"/>
          <p:cNvSpPr/>
          <p:nvPr/>
        </p:nvSpPr>
        <p:spPr>
          <a:xfrm>
            <a:off x="640080" y="1005840"/>
            <a:ext cx="411480" cy="548640"/>
          </a:xfrm>
          <a:prstGeom prst="rect">
            <a:avLst/>
          </a:prstGeom>
          <a:noFill/>
          <a:ln/>
        </p:spPr>
        <p:txBody>
          <a:bodyPr wrap="square" rtlCol="0" anchor="ctr"/>
          <a:lstStyle/>
          <a:p>
            <a:pPr indent="0" marL="0">
              <a:buNone/>
            </a:pPr>
            <a:r>
              <a:rPr lang="en-US" sz="1100" b="1" dirty="0">
                <a:solidFill>
                  <a:srgbClr val="1B6B7D"/>
                </a:solidFill>
                <a:latin typeface="Calibri" pitchFamily="34" charset="0"/>
                <a:ea typeface="Calibri" pitchFamily="34" charset="-122"/>
                <a:cs typeface="Calibri" pitchFamily="34" charset="-120"/>
              </a:rPr>
              <a:t>E1</a:t>
            </a:r>
            <a:endParaRPr lang="en-US" sz="1100" dirty="0"/>
          </a:p>
        </p:txBody>
      </p:sp>
      <p:sp>
        <p:nvSpPr>
          <p:cNvPr id="5" name="Text 3"/>
          <p:cNvSpPr/>
          <p:nvPr/>
        </p:nvSpPr>
        <p:spPr>
          <a:xfrm>
            <a:off x="1097280" y="1005840"/>
            <a:ext cx="2194560" cy="548640"/>
          </a:xfrm>
          <a:prstGeom prst="rect">
            <a:avLst/>
          </a:prstGeom>
          <a:noFill/>
          <a:ln/>
        </p:spPr>
        <p:txBody>
          <a:bodyPr wrap="square" rtlCol="0" anchor="ctr"/>
          <a:lstStyle/>
          <a:p>
            <a:pPr indent="0" marL="0">
              <a:buNone/>
            </a:pPr>
            <a:r>
              <a:rPr lang="en-US" sz="1100" b="1" dirty="0">
                <a:solidFill>
                  <a:srgbClr val="2C2C2C"/>
                </a:solidFill>
                <a:latin typeface="Calibri" pitchFamily="34" charset="0"/>
                <a:ea typeface="Calibri" pitchFamily="34" charset="-122"/>
                <a:cs typeface="Calibri" pitchFamily="34" charset="-120"/>
              </a:rPr>
              <a:t>Feature Set Comparison</a:t>
            </a:r>
            <a:endParaRPr lang="en-US" sz="1100" dirty="0"/>
          </a:p>
        </p:txBody>
      </p:sp>
      <p:sp>
        <p:nvSpPr>
          <p:cNvPr id="6" name="Text 4"/>
          <p:cNvSpPr/>
          <p:nvPr/>
        </p:nvSpPr>
        <p:spPr>
          <a:xfrm>
            <a:off x="3383280" y="1005840"/>
            <a:ext cx="420624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trigram_dwell (216d) wins: 0.602 seg / 0.700 trk</a:t>
            </a:r>
            <a:endParaRPr lang="en-US" sz="1000" dirty="0"/>
          </a:p>
        </p:txBody>
      </p:sp>
      <p:sp>
        <p:nvSpPr>
          <p:cNvPr id="7" name="Shape 5"/>
          <p:cNvSpPr/>
          <p:nvPr/>
        </p:nvSpPr>
        <p:spPr>
          <a:xfrm>
            <a:off x="7680960" y="1143000"/>
            <a:ext cx="822960" cy="274320"/>
          </a:xfrm>
          <a:prstGeom prst="rect">
            <a:avLst/>
          </a:prstGeom>
          <a:solidFill>
            <a:srgbClr val="2D8659"/>
          </a:solidFill>
          <a:ln/>
        </p:spPr>
      </p:sp>
      <p:sp>
        <p:nvSpPr>
          <p:cNvPr id="8" name="Text 6"/>
          <p:cNvSpPr/>
          <p:nvPr/>
        </p:nvSpPr>
        <p:spPr>
          <a:xfrm>
            <a:off x="7680960" y="1143000"/>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Core</a:t>
            </a:r>
            <a:endParaRPr lang="en-US" sz="800" dirty="0"/>
          </a:p>
        </p:txBody>
      </p:sp>
      <p:sp>
        <p:nvSpPr>
          <p:cNvPr id="9" name="Shape 7"/>
          <p:cNvSpPr/>
          <p:nvPr/>
        </p:nvSpPr>
        <p:spPr>
          <a:xfrm>
            <a:off x="548640" y="1664208"/>
            <a:ext cx="8046720" cy="548640"/>
          </a:xfrm>
          <a:prstGeom prst="rect">
            <a:avLst/>
          </a:prstGeom>
          <a:solidFill>
            <a:srgbClr val="FFFFFF"/>
          </a:solidFill>
          <a:ln/>
        </p:spPr>
      </p:sp>
      <p:sp>
        <p:nvSpPr>
          <p:cNvPr id="10" name="Text 8"/>
          <p:cNvSpPr/>
          <p:nvPr/>
        </p:nvSpPr>
        <p:spPr>
          <a:xfrm>
            <a:off x="640080" y="1664208"/>
            <a:ext cx="411480" cy="548640"/>
          </a:xfrm>
          <a:prstGeom prst="rect">
            <a:avLst/>
          </a:prstGeom>
          <a:noFill/>
          <a:ln/>
        </p:spPr>
        <p:txBody>
          <a:bodyPr wrap="square" rtlCol="0" anchor="ctr"/>
          <a:lstStyle/>
          <a:p>
            <a:pPr indent="0" marL="0">
              <a:buNone/>
            </a:pPr>
            <a:r>
              <a:rPr lang="en-US" sz="1100" b="1" dirty="0">
                <a:solidFill>
                  <a:srgbClr val="1B6B7D"/>
                </a:solidFill>
                <a:latin typeface="Calibri" pitchFamily="34" charset="0"/>
                <a:ea typeface="Calibri" pitchFamily="34" charset="-122"/>
                <a:cs typeface="Calibri" pitchFamily="34" charset="-120"/>
              </a:rPr>
              <a:t>E2</a:t>
            </a:r>
            <a:endParaRPr lang="en-US" sz="1100" dirty="0"/>
          </a:p>
        </p:txBody>
      </p:sp>
      <p:sp>
        <p:nvSpPr>
          <p:cNvPr id="11" name="Text 9"/>
          <p:cNvSpPr/>
          <p:nvPr/>
        </p:nvSpPr>
        <p:spPr>
          <a:xfrm>
            <a:off x="1097280" y="1664208"/>
            <a:ext cx="2194560" cy="548640"/>
          </a:xfrm>
          <a:prstGeom prst="rect">
            <a:avLst/>
          </a:prstGeom>
          <a:noFill/>
          <a:ln/>
        </p:spPr>
        <p:txBody>
          <a:bodyPr wrap="square" rtlCol="0" anchor="ctr"/>
          <a:lstStyle/>
          <a:p>
            <a:pPr indent="0" marL="0">
              <a:buNone/>
            </a:pPr>
            <a:r>
              <a:rPr lang="en-US" sz="1100" b="1" dirty="0">
                <a:solidFill>
                  <a:srgbClr val="2C2C2C"/>
                </a:solidFill>
                <a:latin typeface="Calibri" pitchFamily="34" charset="0"/>
                <a:ea typeface="Calibri" pitchFamily="34" charset="-122"/>
                <a:cs typeface="Calibri" pitchFamily="34" charset="-120"/>
              </a:rPr>
              <a:t>10-Raga Reduced Set</a:t>
            </a:r>
            <a:endParaRPr lang="en-US" sz="1100" dirty="0"/>
          </a:p>
        </p:txBody>
      </p:sp>
      <p:sp>
        <p:nvSpPr>
          <p:cNvPr id="12" name="Text 10"/>
          <p:cNvSpPr/>
          <p:nvPr/>
        </p:nvSpPr>
        <p:spPr>
          <a:xfrm>
            <a:off x="3383280" y="1664208"/>
            <a:ext cx="420624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Dropped 4 rare ragas. Structural features improve; MFCC gets worse (0.119&gt;0.063)</a:t>
            </a:r>
            <a:endParaRPr lang="en-US" sz="1000" dirty="0"/>
          </a:p>
        </p:txBody>
      </p:sp>
      <p:sp>
        <p:nvSpPr>
          <p:cNvPr id="13" name="Shape 11"/>
          <p:cNvSpPr/>
          <p:nvPr/>
        </p:nvSpPr>
        <p:spPr>
          <a:xfrm>
            <a:off x="7680960" y="1801368"/>
            <a:ext cx="822960" cy="274320"/>
          </a:xfrm>
          <a:prstGeom prst="rect">
            <a:avLst/>
          </a:prstGeom>
          <a:solidFill>
            <a:srgbClr val="1B6B7D"/>
          </a:solidFill>
          <a:ln/>
        </p:spPr>
      </p:sp>
      <p:sp>
        <p:nvSpPr>
          <p:cNvPr id="14" name="Text 12"/>
          <p:cNvSpPr/>
          <p:nvPr/>
        </p:nvSpPr>
        <p:spPr>
          <a:xfrm>
            <a:off x="7680960" y="1801368"/>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Ablation</a:t>
            </a:r>
            <a:endParaRPr lang="en-US" sz="800" dirty="0"/>
          </a:p>
        </p:txBody>
      </p:sp>
      <p:sp>
        <p:nvSpPr>
          <p:cNvPr id="15" name="Shape 13"/>
          <p:cNvSpPr/>
          <p:nvPr/>
        </p:nvSpPr>
        <p:spPr>
          <a:xfrm>
            <a:off x="548640" y="2322576"/>
            <a:ext cx="8046720" cy="548640"/>
          </a:xfrm>
          <a:prstGeom prst="rect">
            <a:avLst/>
          </a:prstGeom>
          <a:solidFill>
            <a:srgbClr val="E8F4F8"/>
          </a:solidFill>
          <a:ln/>
        </p:spPr>
      </p:sp>
      <p:sp>
        <p:nvSpPr>
          <p:cNvPr id="16" name="Text 14"/>
          <p:cNvSpPr/>
          <p:nvPr/>
        </p:nvSpPr>
        <p:spPr>
          <a:xfrm>
            <a:off x="640080" y="2322576"/>
            <a:ext cx="411480" cy="548640"/>
          </a:xfrm>
          <a:prstGeom prst="rect">
            <a:avLst/>
          </a:prstGeom>
          <a:noFill/>
          <a:ln/>
        </p:spPr>
        <p:txBody>
          <a:bodyPr wrap="square" rtlCol="0" anchor="ctr"/>
          <a:lstStyle/>
          <a:p>
            <a:pPr indent="0" marL="0">
              <a:buNone/>
            </a:pPr>
            <a:r>
              <a:rPr lang="en-US" sz="1100" b="1" dirty="0">
                <a:solidFill>
                  <a:srgbClr val="1B6B7D"/>
                </a:solidFill>
                <a:latin typeface="Calibri" pitchFamily="34" charset="0"/>
                <a:ea typeface="Calibri" pitchFamily="34" charset="-122"/>
                <a:cs typeface="Calibri" pitchFamily="34" charset="-120"/>
              </a:rPr>
              <a:t>E3</a:t>
            </a:r>
            <a:endParaRPr lang="en-US" sz="1100" dirty="0"/>
          </a:p>
        </p:txBody>
      </p:sp>
      <p:sp>
        <p:nvSpPr>
          <p:cNvPr id="17" name="Text 15"/>
          <p:cNvSpPr/>
          <p:nvPr/>
        </p:nvSpPr>
        <p:spPr>
          <a:xfrm>
            <a:off x="1097280" y="2322576"/>
            <a:ext cx="2194560" cy="548640"/>
          </a:xfrm>
          <a:prstGeom prst="rect">
            <a:avLst/>
          </a:prstGeom>
          <a:noFill/>
          <a:ln/>
        </p:spPr>
        <p:txBody>
          <a:bodyPr wrap="square" rtlCol="0" anchor="ctr"/>
          <a:lstStyle/>
          <a:p>
            <a:pPr indent="0" marL="0">
              <a:buNone/>
            </a:pPr>
            <a:r>
              <a:rPr lang="en-US" sz="1100" b="1" dirty="0">
                <a:solidFill>
                  <a:srgbClr val="2C2C2C"/>
                </a:solidFill>
                <a:latin typeface="Calibri" pitchFamily="34" charset="0"/>
                <a:ea typeface="Calibri" pitchFamily="34" charset="-122"/>
                <a:cs typeface="Calibri" pitchFamily="34" charset="-120"/>
              </a:rPr>
              <a:t>SVM vs LSTM</a:t>
            </a:r>
            <a:endParaRPr lang="en-US" sz="1100" dirty="0"/>
          </a:p>
        </p:txBody>
      </p:sp>
      <p:sp>
        <p:nvSpPr>
          <p:cNvPr id="18" name="Text 16"/>
          <p:cNvSpPr/>
          <p:nvPr/>
        </p:nvSpPr>
        <p:spPr>
          <a:xfrm>
            <a:off x="3383280" y="2322576"/>
            <a:ext cx="420624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SVM wins by 18%. 2x more stable across folds (range 0.256 vs 0.439)</a:t>
            </a:r>
            <a:endParaRPr lang="en-US" sz="1000" dirty="0"/>
          </a:p>
        </p:txBody>
      </p:sp>
      <p:sp>
        <p:nvSpPr>
          <p:cNvPr id="19" name="Shape 17"/>
          <p:cNvSpPr/>
          <p:nvPr/>
        </p:nvSpPr>
        <p:spPr>
          <a:xfrm>
            <a:off x="7680960" y="2459736"/>
            <a:ext cx="822960" cy="274320"/>
          </a:xfrm>
          <a:prstGeom prst="rect">
            <a:avLst/>
          </a:prstGeom>
          <a:solidFill>
            <a:srgbClr val="2D8659"/>
          </a:solidFill>
          <a:ln/>
        </p:spPr>
      </p:sp>
      <p:sp>
        <p:nvSpPr>
          <p:cNvPr id="20" name="Text 18"/>
          <p:cNvSpPr/>
          <p:nvPr/>
        </p:nvSpPr>
        <p:spPr>
          <a:xfrm>
            <a:off x="7680960" y="2459736"/>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Core</a:t>
            </a:r>
            <a:endParaRPr lang="en-US" sz="800" dirty="0"/>
          </a:p>
        </p:txBody>
      </p:sp>
      <p:sp>
        <p:nvSpPr>
          <p:cNvPr id="21" name="Shape 19"/>
          <p:cNvSpPr/>
          <p:nvPr/>
        </p:nvSpPr>
        <p:spPr>
          <a:xfrm>
            <a:off x="548640" y="2980944"/>
            <a:ext cx="8046720" cy="548640"/>
          </a:xfrm>
          <a:prstGeom prst="rect">
            <a:avLst/>
          </a:prstGeom>
          <a:solidFill>
            <a:srgbClr val="FFFFFF"/>
          </a:solidFill>
          <a:ln/>
        </p:spPr>
      </p:sp>
      <p:sp>
        <p:nvSpPr>
          <p:cNvPr id="22" name="Text 20"/>
          <p:cNvSpPr/>
          <p:nvPr/>
        </p:nvSpPr>
        <p:spPr>
          <a:xfrm>
            <a:off x="640080" y="2980944"/>
            <a:ext cx="411480" cy="548640"/>
          </a:xfrm>
          <a:prstGeom prst="rect">
            <a:avLst/>
          </a:prstGeom>
          <a:noFill/>
          <a:ln/>
        </p:spPr>
        <p:txBody>
          <a:bodyPr wrap="square" rtlCol="0" anchor="ctr"/>
          <a:lstStyle/>
          <a:p>
            <a:pPr indent="0" marL="0">
              <a:buNone/>
            </a:pPr>
            <a:r>
              <a:rPr lang="en-US" sz="1100" b="1" dirty="0">
                <a:solidFill>
                  <a:srgbClr val="1B6B7D"/>
                </a:solidFill>
                <a:latin typeface="Calibri" pitchFamily="34" charset="0"/>
                <a:ea typeface="Calibri" pitchFamily="34" charset="-122"/>
                <a:cs typeface="Calibri" pitchFamily="34" charset="-120"/>
              </a:rPr>
              <a:t>E4</a:t>
            </a:r>
            <a:endParaRPr lang="en-US" sz="1100" dirty="0"/>
          </a:p>
        </p:txBody>
      </p:sp>
      <p:sp>
        <p:nvSpPr>
          <p:cNvPr id="23" name="Text 21"/>
          <p:cNvSpPr/>
          <p:nvPr/>
        </p:nvSpPr>
        <p:spPr>
          <a:xfrm>
            <a:off x="1097280" y="2980944"/>
            <a:ext cx="2194560" cy="548640"/>
          </a:xfrm>
          <a:prstGeom prst="rect">
            <a:avLst/>
          </a:prstGeom>
          <a:noFill/>
          <a:ln/>
        </p:spPr>
        <p:txBody>
          <a:bodyPr wrap="square" rtlCol="0" anchor="ctr"/>
          <a:lstStyle/>
          <a:p>
            <a:pPr indent="0" marL="0">
              <a:buNone/>
            </a:pPr>
            <a:r>
              <a:rPr lang="en-US" sz="1100" b="1" dirty="0">
                <a:solidFill>
                  <a:srgbClr val="2C2C2C"/>
                </a:solidFill>
                <a:latin typeface="Calibri" pitchFamily="34" charset="0"/>
                <a:ea typeface="Calibri" pitchFamily="34" charset="-122"/>
                <a:cs typeface="Calibri" pitchFamily="34" charset="-120"/>
              </a:rPr>
              <a:t>Probability Fusion</a:t>
            </a:r>
            <a:endParaRPr lang="en-US" sz="1100" dirty="0"/>
          </a:p>
        </p:txBody>
      </p:sp>
      <p:sp>
        <p:nvSpPr>
          <p:cNvPr id="24" name="Text 22"/>
          <p:cNvSpPr/>
          <p:nvPr/>
        </p:nvSpPr>
        <p:spPr>
          <a:xfrm>
            <a:off x="3383280" y="2980944"/>
            <a:ext cx="420624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Hurts: -1.1% seg, -5.7% trk. Best model diluted by weaker ones</a:t>
            </a:r>
            <a:endParaRPr lang="en-US" sz="1000" dirty="0"/>
          </a:p>
        </p:txBody>
      </p:sp>
      <p:sp>
        <p:nvSpPr>
          <p:cNvPr id="25" name="Shape 23"/>
          <p:cNvSpPr/>
          <p:nvPr/>
        </p:nvSpPr>
        <p:spPr>
          <a:xfrm>
            <a:off x="7680960" y="3118104"/>
            <a:ext cx="822960" cy="274320"/>
          </a:xfrm>
          <a:prstGeom prst="rect">
            <a:avLst/>
          </a:prstGeom>
          <a:solidFill>
            <a:srgbClr val="C0392B"/>
          </a:solidFill>
          <a:ln/>
        </p:spPr>
      </p:sp>
      <p:sp>
        <p:nvSpPr>
          <p:cNvPr id="26" name="Text 24"/>
          <p:cNvSpPr/>
          <p:nvPr/>
        </p:nvSpPr>
        <p:spPr>
          <a:xfrm>
            <a:off x="7680960" y="3118104"/>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Negative</a:t>
            </a:r>
            <a:endParaRPr lang="en-US" sz="800" dirty="0"/>
          </a:p>
        </p:txBody>
      </p:sp>
      <p:sp>
        <p:nvSpPr>
          <p:cNvPr id="27" name="Shape 25"/>
          <p:cNvSpPr/>
          <p:nvPr/>
        </p:nvSpPr>
        <p:spPr>
          <a:xfrm>
            <a:off x="548640" y="3639312"/>
            <a:ext cx="8046720" cy="548640"/>
          </a:xfrm>
          <a:prstGeom prst="rect">
            <a:avLst/>
          </a:prstGeom>
          <a:solidFill>
            <a:srgbClr val="E8F4F8"/>
          </a:solidFill>
          <a:ln/>
        </p:spPr>
      </p:sp>
      <p:sp>
        <p:nvSpPr>
          <p:cNvPr id="28" name="Text 26"/>
          <p:cNvSpPr/>
          <p:nvPr/>
        </p:nvSpPr>
        <p:spPr>
          <a:xfrm>
            <a:off x="640080" y="3639312"/>
            <a:ext cx="411480" cy="548640"/>
          </a:xfrm>
          <a:prstGeom prst="rect">
            <a:avLst/>
          </a:prstGeom>
          <a:noFill/>
          <a:ln/>
        </p:spPr>
        <p:txBody>
          <a:bodyPr wrap="square" rtlCol="0" anchor="ctr"/>
          <a:lstStyle/>
          <a:p>
            <a:pPr indent="0" marL="0">
              <a:buNone/>
            </a:pPr>
            <a:r>
              <a:rPr lang="en-US" sz="1100" b="1" dirty="0">
                <a:solidFill>
                  <a:srgbClr val="1B6B7D"/>
                </a:solidFill>
                <a:latin typeface="Calibri" pitchFamily="34" charset="0"/>
                <a:ea typeface="Calibri" pitchFamily="34" charset="-122"/>
                <a:cs typeface="Calibri" pitchFamily="34" charset="-120"/>
              </a:rPr>
              <a:t>E5</a:t>
            </a:r>
            <a:endParaRPr lang="en-US" sz="1100" dirty="0"/>
          </a:p>
        </p:txBody>
      </p:sp>
      <p:sp>
        <p:nvSpPr>
          <p:cNvPr id="29" name="Text 27"/>
          <p:cNvSpPr/>
          <p:nvPr/>
        </p:nvSpPr>
        <p:spPr>
          <a:xfrm>
            <a:off x="1097280" y="3639312"/>
            <a:ext cx="2194560" cy="548640"/>
          </a:xfrm>
          <a:prstGeom prst="rect">
            <a:avLst/>
          </a:prstGeom>
          <a:noFill/>
          <a:ln/>
        </p:spPr>
        <p:txBody>
          <a:bodyPr wrap="square" rtlCol="0" anchor="ctr"/>
          <a:lstStyle/>
          <a:p>
            <a:pPr indent="0" marL="0">
              <a:buNone/>
            </a:pPr>
            <a:r>
              <a:rPr lang="en-US" sz="1100" b="1" dirty="0">
                <a:solidFill>
                  <a:srgbClr val="2C2C2C"/>
                </a:solidFill>
                <a:latin typeface="Calibri" pitchFamily="34" charset="0"/>
                <a:ea typeface="Calibri" pitchFamily="34" charset="-122"/>
                <a:cs typeface="Calibri" pitchFamily="34" charset="-120"/>
              </a:rPr>
              <a:t>Phrase-Aware Trigrams</a:t>
            </a:r>
            <a:endParaRPr lang="en-US" sz="1100" dirty="0"/>
          </a:p>
        </p:txBody>
      </p:sp>
      <p:sp>
        <p:nvSpPr>
          <p:cNvPr id="30" name="Text 28"/>
          <p:cNvSpPr/>
          <p:nvPr/>
        </p:nvSpPr>
        <p:spPr>
          <a:xfrm>
            <a:off x="3383280" y="3639312"/>
            <a:ext cx="420624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0.58 &gt; 0.18. Splitting at glide boundaries destroys accuracy. Gamakas connect notes</a:t>
            </a:r>
            <a:endParaRPr lang="en-US" sz="1000" dirty="0"/>
          </a:p>
        </p:txBody>
      </p:sp>
      <p:sp>
        <p:nvSpPr>
          <p:cNvPr id="31" name="Shape 29"/>
          <p:cNvSpPr/>
          <p:nvPr/>
        </p:nvSpPr>
        <p:spPr>
          <a:xfrm>
            <a:off x="7680960" y="3776472"/>
            <a:ext cx="822960" cy="274320"/>
          </a:xfrm>
          <a:prstGeom prst="rect">
            <a:avLst/>
          </a:prstGeom>
          <a:solidFill>
            <a:srgbClr val="C0392B"/>
          </a:solidFill>
          <a:ln/>
        </p:spPr>
      </p:sp>
      <p:sp>
        <p:nvSpPr>
          <p:cNvPr id="32" name="Text 30"/>
          <p:cNvSpPr/>
          <p:nvPr/>
        </p:nvSpPr>
        <p:spPr>
          <a:xfrm>
            <a:off x="7680960" y="3776472"/>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Negative</a:t>
            </a:r>
            <a:endParaRPr lang="en-US" sz="800" dirty="0"/>
          </a:p>
        </p:txBody>
      </p:sp>
      <p:sp>
        <p:nvSpPr>
          <p:cNvPr id="33" name="Shape 31"/>
          <p:cNvSpPr/>
          <p:nvPr/>
        </p:nvSpPr>
        <p:spPr>
          <a:xfrm>
            <a:off x="548640" y="4297680"/>
            <a:ext cx="8046720" cy="548640"/>
          </a:xfrm>
          <a:prstGeom prst="rect">
            <a:avLst/>
          </a:prstGeom>
          <a:solidFill>
            <a:srgbClr val="FFFFFF"/>
          </a:solidFill>
          <a:ln/>
        </p:spPr>
      </p:sp>
      <p:sp>
        <p:nvSpPr>
          <p:cNvPr id="34" name="Text 32"/>
          <p:cNvSpPr/>
          <p:nvPr/>
        </p:nvSpPr>
        <p:spPr>
          <a:xfrm>
            <a:off x="640080" y="4297680"/>
            <a:ext cx="411480" cy="548640"/>
          </a:xfrm>
          <a:prstGeom prst="rect">
            <a:avLst/>
          </a:prstGeom>
          <a:noFill/>
          <a:ln/>
        </p:spPr>
        <p:txBody>
          <a:bodyPr wrap="square" rtlCol="0" anchor="ctr"/>
          <a:lstStyle/>
          <a:p>
            <a:pPr indent="0" marL="0">
              <a:buNone/>
            </a:pPr>
            <a:r>
              <a:rPr lang="en-US" sz="1100" b="1" dirty="0">
                <a:solidFill>
                  <a:srgbClr val="1B6B7D"/>
                </a:solidFill>
                <a:latin typeface="Calibri" pitchFamily="34" charset="0"/>
                <a:ea typeface="Calibri" pitchFamily="34" charset="-122"/>
                <a:cs typeface="Calibri" pitchFamily="34" charset="-120"/>
              </a:rPr>
              <a:t>E6</a:t>
            </a:r>
            <a:endParaRPr lang="en-US" sz="1100" dirty="0"/>
          </a:p>
        </p:txBody>
      </p:sp>
      <p:sp>
        <p:nvSpPr>
          <p:cNvPr id="35" name="Text 33"/>
          <p:cNvSpPr/>
          <p:nvPr/>
        </p:nvSpPr>
        <p:spPr>
          <a:xfrm>
            <a:off x="1097280" y="4297680"/>
            <a:ext cx="2194560" cy="548640"/>
          </a:xfrm>
          <a:prstGeom prst="rect">
            <a:avLst/>
          </a:prstGeom>
          <a:noFill/>
          <a:ln/>
        </p:spPr>
        <p:txBody>
          <a:bodyPr wrap="square" rtlCol="0" anchor="ctr"/>
          <a:lstStyle/>
          <a:p>
            <a:pPr indent="0" marL="0">
              <a:buNone/>
            </a:pPr>
            <a:r>
              <a:rPr lang="en-US" sz="1100" b="1" dirty="0">
                <a:solidFill>
                  <a:srgbClr val="2C2C2C"/>
                </a:solidFill>
                <a:latin typeface="Calibri" pitchFamily="34" charset="0"/>
                <a:ea typeface="Calibri" pitchFamily="34" charset="-122"/>
                <a:cs typeface="Calibri" pitchFamily="34" charset="-120"/>
              </a:rPr>
              <a:t>4-Gram Features</a:t>
            </a:r>
            <a:endParaRPr lang="en-US" sz="1100" dirty="0"/>
          </a:p>
        </p:txBody>
      </p:sp>
      <p:sp>
        <p:nvSpPr>
          <p:cNvPr id="36" name="Text 34"/>
          <p:cNvSpPr/>
          <p:nvPr/>
        </p:nvSpPr>
        <p:spPr>
          <a:xfrm>
            <a:off x="3383280" y="4297680"/>
            <a:ext cx="4206240" cy="548640"/>
          </a:xfrm>
          <a:prstGeom prst="rect">
            <a:avLst/>
          </a:prstGeom>
          <a:noFill/>
          <a:ln/>
        </p:spPr>
        <p:txBody>
          <a:bodyPr wrap="square" rtlCol="0" anchor="ctr"/>
          <a:lstStyle/>
          <a:p>
            <a:pPr indent="0" marL="0">
              <a:buNone/>
            </a:pPr>
            <a:r>
              <a:rPr lang="en-US" sz="1000" dirty="0">
                <a:solidFill>
                  <a:srgbClr val="2C2C2C"/>
                </a:solidFill>
                <a:latin typeface="Calibri" pitchFamily="34" charset="0"/>
                <a:ea typeface="Calibri" pitchFamily="34" charset="-122"/>
                <a:cs typeface="Calibri" pitchFamily="34" charset="-120"/>
              </a:rPr>
              <a:t>0.158 accuracy. 12^4 = 20,736 patterns too sparse for 2,100 samples</a:t>
            </a:r>
            <a:endParaRPr lang="en-US" sz="1000" dirty="0"/>
          </a:p>
        </p:txBody>
      </p:sp>
      <p:sp>
        <p:nvSpPr>
          <p:cNvPr id="37" name="Shape 35"/>
          <p:cNvSpPr/>
          <p:nvPr/>
        </p:nvSpPr>
        <p:spPr>
          <a:xfrm>
            <a:off x="7680960" y="4434840"/>
            <a:ext cx="822960" cy="274320"/>
          </a:xfrm>
          <a:prstGeom prst="rect">
            <a:avLst/>
          </a:prstGeom>
          <a:solidFill>
            <a:srgbClr val="C0392B"/>
          </a:solidFill>
          <a:ln/>
        </p:spPr>
      </p:sp>
      <p:sp>
        <p:nvSpPr>
          <p:cNvPr id="38" name="Text 36"/>
          <p:cNvSpPr/>
          <p:nvPr/>
        </p:nvSpPr>
        <p:spPr>
          <a:xfrm>
            <a:off x="7680960" y="4434840"/>
            <a:ext cx="822960" cy="274320"/>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Negative</a:t>
            </a:r>
            <a:endParaRPr lang="en-US" sz="800" dirty="0"/>
          </a:p>
        </p:txBody>
      </p:sp>
      <p:sp>
        <p:nvSpPr>
          <p:cNvPr id="39" name="Text 37"/>
          <p:cNvSpPr/>
          <p:nvPr/>
        </p:nvSpPr>
        <p:spPr>
          <a:xfrm>
            <a:off x="548640" y="4572000"/>
            <a:ext cx="8046720" cy="36576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Each negative result is informative: E4 reveals feature redundancy, E5 validates the continuous gamaka model, E6 identifies the optimal n-gram order.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2600" b="1" dirty="0">
                <a:solidFill>
                  <a:srgbClr val="1A2744"/>
                </a:solidFill>
                <a:latin typeface="Georgia" pitchFamily="34" charset="0"/>
                <a:ea typeface="Georgia" pitchFamily="34" charset="-122"/>
                <a:cs typeface="Georgia" pitchFamily="34" charset="-120"/>
              </a:rPr>
              <a:t>Per-Raga Analysis: Why Some Ragas Fail</a:t>
            </a:r>
            <a:endParaRPr lang="en-US" sz="2600" dirty="0"/>
          </a:p>
        </p:txBody>
      </p:sp>
      <p:sp>
        <p:nvSpPr>
          <p:cNvPr id="3" name="Shape 1"/>
          <p:cNvSpPr/>
          <p:nvPr/>
        </p:nvSpPr>
        <p:spPr>
          <a:xfrm>
            <a:off x="548640" y="960120"/>
            <a:ext cx="256032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4" name="Shape 2"/>
          <p:cNvSpPr/>
          <p:nvPr/>
        </p:nvSpPr>
        <p:spPr>
          <a:xfrm>
            <a:off x="548640" y="960120"/>
            <a:ext cx="2560320" cy="365760"/>
          </a:xfrm>
          <a:prstGeom prst="rect">
            <a:avLst/>
          </a:prstGeom>
          <a:solidFill>
            <a:srgbClr val="2D8659"/>
          </a:solidFill>
          <a:ln/>
        </p:spPr>
      </p:sp>
      <p:sp>
        <p:nvSpPr>
          <p:cNvPr id="5" name="Text 3"/>
          <p:cNvSpPr/>
          <p:nvPr/>
        </p:nvSpPr>
        <p:spPr>
          <a:xfrm>
            <a:off x="548640" y="960120"/>
            <a:ext cx="256032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Tier 1: F1 &gt; 0.80</a:t>
            </a:r>
            <a:endParaRPr lang="en-US" sz="1100" dirty="0"/>
          </a:p>
        </p:txBody>
      </p:sp>
      <p:sp>
        <p:nvSpPr>
          <p:cNvPr id="6" name="Text 4"/>
          <p:cNvSpPr/>
          <p:nvPr/>
        </p:nvSpPr>
        <p:spPr>
          <a:xfrm>
            <a:off x="685800" y="1417320"/>
            <a:ext cx="2286000" cy="3337560"/>
          </a:xfrm>
          <a:prstGeom prst="rect">
            <a:avLst/>
          </a:prstGeom>
          <a:noFill/>
          <a:ln/>
        </p:spPr>
        <p:txBody>
          <a:bodyPr wrap="square" rtlCol="0" anchor="ctr"/>
          <a:lstStyle/>
          <a:p>
            <a:pPr indent="0" marL="0">
              <a:buNone/>
            </a:pPr>
            <a:r>
              <a:rPr lang="en-US" sz="1100" b="1" dirty="0">
                <a:solidFill>
                  <a:srgbClr val="000000"/>
                </a:solidFill>
              </a:rPr>
              <a:t>Bhairavi  0.89
</a:t>
            </a:r>
            <a:endParaRPr lang="en-US" sz="1100" dirty="0"/>
          </a:p>
          <a:p>
            <a:pPr indent="0" marL="0">
              <a:buNone/>
            </a:pPr>
            <a:r>
              <a:rPr lang="en-US" sz="900" dirty="0">
                <a:solidFill>
                  <a:srgbClr val="000000"/>
                </a:solidFill>
              </a:rPr>
              <a:t>Distinctive gamaka on Ri2/Da2. Not closely related to others in dataset.
</a:t>
            </a:r>
            <a:endParaRPr lang="en-US" sz="1100" dirty="0"/>
          </a:p>
          <a:p>
            <a:pPr indent="0" marL="0">
              <a:buNone/>
            </a:pPr>
            <a:r>
              <a:rPr lang="en-US" sz="1100" b="1" dirty="0">
                <a:solidFill>
                  <a:srgbClr val="000000"/>
                </a:solidFill>
              </a:rPr>
              <a:t>Todi  0.86
</a:t>
            </a:r>
            <a:endParaRPr lang="en-US" sz="1100" dirty="0"/>
          </a:p>
          <a:p>
            <a:pPr indent="0" marL="0">
              <a:buNone/>
            </a:pPr>
            <a:r>
              <a:rPr lang="en-US" sz="900" dirty="0">
                <a:solidFill>
                  <a:srgbClr val="000000"/>
                </a:solidFill>
              </a:rPr>
              <a:t>Ri1-Ga1 pair is unique in the dataset. Even PCD separates it.
</a:t>
            </a:r>
            <a:endParaRPr lang="en-US" sz="1100" dirty="0"/>
          </a:p>
          <a:p>
            <a:pPr indent="0" marL="0">
              <a:buNone/>
            </a:pPr>
            <a:r>
              <a:rPr lang="en-US" sz="1100" b="1" dirty="0">
                <a:solidFill>
                  <a:srgbClr val="000000"/>
                </a:solidFill>
              </a:rPr>
              <a:t>Sanmukhapriya  0.84
</a:t>
            </a:r>
            <a:endParaRPr lang="en-US" sz="1100" dirty="0"/>
          </a:p>
          <a:p>
            <a:pPr indent="0" marL="0">
              <a:buNone/>
            </a:pPr>
            <a:r>
              <a:rPr lang="en-US" sz="900" dirty="0">
                <a:solidFill>
                  <a:srgbClr val="000000"/>
                </a:solidFill>
              </a:rPr>
              <a:t>Uses prati madhyama (Ma2), rare in dataset. Ma2 presence alone is diagnostic.
</a:t>
            </a:r>
            <a:endParaRPr lang="en-US" sz="1100" dirty="0"/>
          </a:p>
          <a:p>
            <a:pPr indent="0" marL="0">
              <a:buNone/>
            </a:pPr>
            <a:r>
              <a:rPr lang="en-US" sz="1100" b="1" dirty="0">
                <a:solidFill>
                  <a:srgbClr val="000000"/>
                </a:solidFill>
              </a:rPr>
              <a:t>Ritigaula  0.80
</a:t>
            </a:r>
            <a:endParaRPr lang="en-US" sz="1100" dirty="0"/>
          </a:p>
          <a:p>
            <a:pPr indent="0" marL="0">
              <a:buNone/>
            </a:pPr>
            <a:r>
              <a:rPr lang="en-US" sz="900" dirty="0">
                <a:solidFill>
                  <a:srgbClr val="000000"/>
                </a:solidFill>
              </a:rPr>
              <a:t>Specific vakra (zigzag) phrase shapes. Consistent despite only 3 tracks.</a:t>
            </a:r>
            <a:endParaRPr lang="en-US" sz="1100" dirty="0"/>
          </a:p>
        </p:txBody>
      </p:sp>
      <p:sp>
        <p:nvSpPr>
          <p:cNvPr id="7" name="Shape 5"/>
          <p:cNvSpPr/>
          <p:nvPr/>
        </p:nvSpPr>
        <p:spPr>
          <a:xfrm>
            <a:off x="3291840" y="960120"/>
            <a:ext cx="256032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3291840" y="960120"/>
            <a:ext cx="2560320" cy="365760"/>
          </a:xfrm>
          <a:prstGeom prst="rect">
            <a:avLst/>
          </a:prstGeom>
          <a:solidFill>
            <a:srgbClr val="D4A843"/>
          </a:solidFill>
          <a:ln/>
        </p:spPr>
      </p:sp>
      <p:sp>
        <p:nvSpPr>
          <p:cNvPr id="9" name="Text 7"/>
          <p:cNvSpPr/>
          <p:nvPr/>
        </p:nvSpPr>
        <p:spPr>
          <a:xfrm>
            <a:off x="3291840" y="960120"/>
            <a:ext cx="2560320" cy="365760"/>
          </a:xfrm>
          <a:prstGeom prst="rect">
            <a:avLst/>
          </a:prstGeom>
          <a:noFill/>
          <a:ln/>
        </p:spPr>
        <p:txBody>
          <a:bodyPr wrap="square" rtlCol="0" anchor="ctr"/>
          <a:lstStyle/>
          <a:p>
            <a:pPr algn="ctr" indent="0" marL="0">
              <a:buNone/>
            </a:pPr>
            <a:r>
              <a:rPr lang="en-US" sz="1100" b="1" dirty="0">
                <a:solidFill>
                  <a:srgbClr val="1A2744"/>
                </a:solidFill>
                <a:latin typeface="Calibri" pitchFamily="34" charset="0"/>
                <a:ea typeface="Calibri" pitchFamily="34" charset="-122"/>
                <a:cs typeface="Calibri" pitchFamily="34" charset="-120"/>
              </a:rPr>
              <a:t>Tier 2: F1 0.36 - 0.61</a:t>
            </a:r>
            <a:endParaRPr lang="en-US" sz="1100" dirty="0"/>
          </a:p>
        </p:txBody>
      </p:sp>
      <p:sp>
        <p:nvSpPr>
          <p:cNvPr id="10" name="Text 8"/>
          <p:cNvSpPr/>
          <p:nvPr/>
        </p:nvSpPr>
        <p:spPr>
          <a:xfrm>
            <a:off x="3429000" y="1417320"/>
            <a:ext cx="2286000" cy="3337560"/>
          </a:xfrm>
          <a:prstGeom prst="rect">
            <a:avLst/>
          </a:prstGeom>
          <a:noFill/>
          <a:ln/>
        </p:spPr>
        <p:txBody>
          <a:bodyPr wrap="square" rtlCol="0" anchor="ctr"/>
          <a:lstStyle/>
          <a:p>
            <a:pPr indent="0" marL="0">
              <a:buNone/>
            </a:pPr>
            <a:r>
              <a:rPr lang="en-US" sz="1100" b="1" dirty="0">
                <a:solidFill>
                  <a:srgbClr val="000000"/>
                </a:solidFill>
              </a:rPr>
              <a:t>Saveri  0.61
</a:t>
            </a:r>
            <a:endParaRPr lang="en-US" sz="1100" dirty="0"/>
          </a:p>
          <a:p>
            <a:pPr indent="0" marL="0">
              <a:buNone/>
            </a:pPr>
            <a:r>
              <a:rPr lang="en-US" sz="900" dirty="0">
                <a:solidFill>
                  <a:srgbClr val="000000"/>
                </a:solidFill>
              </a:rPr>
              <a:t>Asymmetric scale (skips Ga/Ni ascending). Shares Ri1 with Todi.
</a:t>
            </a:r>
            <a:endParaRPr lang="en-US" sz="1100" dirty="0"/>
          </a:p>
          <a:p>
            <a:pPr indent="0" marL="0">
              <a:buNone/>
            </a:pPr>
            <a:r>
              <a:rPr lang="en-US" sz="1100" b="1" dirty="0">
                <a:solidFill>
                  <a:srgbClr val="000000"/>
                </a:solidFill>
              </a:rPr>
              <a:t>Begada  0.52
</a:t>
            </a:r>
            <a:endParaRPr lang="en-US" sz="1100" dirty="0"/>
          </a:p>
          <a:p>
            <a:pPr indent="0" marL="0">
              <a:buNone/>
            </a:pPr>
            <a:r>
              <a:rPr lang="en-US" sz="900" dirty="0">
                <a:solidFill>
                  <a:srgbClr val="000000"/>
                </a:solidFill>
              </a:rPr>
              <a:t>Vakra Ga2-Ri2-Ga2 is distinctive but shares note pool with Harikambhoji family.
</a:t>
            </a:r>
            <a:endParaRPr lang="en-US" sz="1100" dirty="0"/>
          </a:p>
          <a:p>
            <a:pPr indent="0" marL="0">
              <a:buNone/>
            </a:pPr>
            <a:r>
              <a:rPr lang="en-US" sz="1100" b="1" dirty="0">
                <a:solidFill>
                  <a:srgbClr val="000000"/>
                </a:solidFill>
              </a:rPr>
              <a:t>Mohanam  0.38
</a:t>
            </a:r>
            <a:endParaRPr lang="en-US" sz="1100" dirty="0"/>
          </a:p>
          <a:p>
            <a:pPr indent="0" marL="0">
              <a:buNone/>
            </a:pPr>
            <a:r>
              <a:rPr lang="en-US" sz="900" dirty="0">
                <a:solidFill>
                  <a:srgbClr val="000000"/>
                </a:solidFill>
              </a:rPr>
              <a:t>Pentatonic (5 notes). Every note appears in 5+ other ragas. Identity = what is absent.
</a:t>
            </a:r>
            <a:endParaRPr lang="en-US" sz="1100" dirty="0"/>
          </a:p>
          <a:p>
            <a:pPr indent="0" marL="0">
              <a:buNone/>
            </a:pPr>
            <a:r>
              <a:rPr lang="en-US" sz="1100" b="1" dirty="0">
                <a:solidFill>
                  <a:srgbClr val="000000"/>
                </a:solidFill>
              </a:rPr>
              <a:t>Kambhoji  0.37 / Kamas  0.36
</a:t>
            </a:r>
            <a:endParaRPr lang="en-US" sz="1100" dirty="0"/>
          </a:p>
          <a:p>
            <a:pPr indent="0" marL="0">
              <a:buNone/>
            </a:pPr>
            <a:r>
              <a:rPr lang="en-US" sz="900" dirty="0">
                <a:solidFill>
                  <a:srgbClr val="000000"/>
                </a:solidFill>
              </a:rPr>
              <a:t>Both janyas of Harikambhoji. Distinguished only by subtle phrasing differences.</a:t>
            </a:r>
            <a:endParaRPr lang="en-US" sz="1100" dirty="0"/>
          </a:p>
        </p:txBody>
      </p:sp>
      <p:sp>
        <p:nvSpPr>
          <p:cNvPr id="11" name="Shape 9"/>
          <p:cNvSpPr/>
          <p:nvPr/>
        </p:nvSpPr>
        <p:spPr>
          <a:xfrm>
            <a:off x="6035040" y="960120"/>
            <a:ext cx="2743200" cy="393192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6035040" y="960120"/>
            <a:ext cx="2743200" cy="365760"/>
          </a:xfrm>
          <a:prstGeom prst="rect">
            <a:avLst/>
          </a:prstGeom>
          <a:solidFill>
            <a:srgbClr val="C0392B"/>
          </a:solidFill>
          <a:ln/>
        </p:spPr>
      </p:sp>
      <p:sp>
        <p:nvSpPr>
          <p:cNvPr id="13" name="Text 11"/>
          <p:cNvSpPr/>
          <p:nvPr/>
        </p:nvSpPr>
        <p:spPr>
          <a:xfrm>
            <a:off x="6035040" y="960120"/>
            <a:ext cx="2743200" cy="36576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Tier 3: F1 &lt; 0.15</a:t>
            </a:r>
            <a:endParaRPr lang="en-US" sz="1100" dirty="0"/>
          </a:p>
        </p:txBody>
      </p:sp>
      <p:sp>
        <p:nvSpPr>
          <p:cNvPr id="14" name="Text 12"/>
          <p:cNvSpPr/>
          <p:nvPr/>
        </p:nvSpPr>
        <p:spPr>
          <a:xfrm>
            <a:off x="6172200" y="1417320"/>
            <a:ext cx="2468880" cy="3337560"/>
          </a:xfrm>
          <a:prstGeom prst="rect">
            <a:avLst/>
          </a:prstGeom>
          <a:noFill/>
          <a:ln/>
        </p:spPr>
        <p:txBody>
          <a:bodyPr wrap="square" rtlCol="0" anchor="ctr"/>
          <a:lstStyle/>
          <a:p>
            <a:pPr indent="0" marL="0">
              <a:buNone/>
            </a:pPr>
            <a:r>
              <a:rPr lang="en-US" sz="1300" b="1" dirty="0">
                <a:solidFill>
                  <a:srgbClr val="C0392B"/>
                </a:solidFill>
              </a:rPr>
              <a:t>Harikambhoji  0.13
</a:t>
            </a:r>
            <a:endParaRPr lang="en-US" sz="1300" dirty="0"/>
          </a:p>
          <a:p>
            <a:pPr indent="0" marL="0">
              <a:buNone/>
            </a:pPr>
            <a:r>
              <a:rPr lang="en-US" sz="1000" i="1" dirty="0">
                <a:solidFill>
                  <a:srgbClr val="000000"/>
                </a:solidFill>
              </a:rPr>
              <a:t>The most musically interesting failure.
</a:t>
            </a:r>
            <a:endParaRPr lang="en-US" sz="1300" dirty="0"/>
          </a:p>
          <a:p>
            <a:pPr indent="0" marL="0">
              <a:buNone/>
            </a:pPr>
            <a:r>
              <a:rPr lang="en-US" sz="1000" dirty="0">
                <a:solidFill>
                  <a:srgbClr val="000000"/>
                </a:solidFill>
              </a:rPr>
              <a:t>28th melakarta (parent scale). Uses all 7 notes with no strong preference for any particular phrase.
</a:t>
            </a:r>
            <a:endParaRPr lang="en-US" sz="1300" dirty="0"/>
          </a:p>
          <a:p>
            <a:pPr indent="0" marL="0">
              <a:buNone/>
            </a:pPr>
            <a:r>
              <a:rPr lang="en-US" sz="1000" dirty="0">
                <a:solidFill>
                  <a:srgbClr val="000000"/>
                </a:solidFill>
              </a:rPr>
              <a:t>Its janyas (Kambhoji, Kamas, Behag, Mohanam) each 'own' distinctive phrases from its note pool. The parent is left with no signature.
</a:t>
            </a:r>
            <a:endParaRPr lang="en-US" sz="1300" dirty="0"/>
          </a:p>
          <a:p>
            <a:pPr indent="0" marL="0">
              <a:buNone/>
            </a:pPr>
            <a:r>
              <a:rPr lang="en-US" sz="1000" b="1" dirty="0">
                <a:solidFill>
                  <a:srgbClr val="000000"/>
                </a:solidFill>
              </a:rPr>
              <a:t>Key insight: </a:t>
            </a:r>
            <a:pPr indent="0" marL="0">
              <a:buNone/>
            </a:pPr>
            <a:r>
              <a:rPr lang="en-US" sz="1000" dirty="0">
                <a:solidFill>
                  <a:srgbClr val="000000"/>
                </a:solidFill>
              </a:rPr>
              <a:t>accuracy correlates with musical distinctiveness, not data quantity. Kamas has 7 tracks (0.36). Todi has 6 tracks (0.86).</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1A2744"/>
                </a:solidFill>
                <a:latin typeface="Georgia" pitchFamily="34" charset="0"/>
                <a:ea typeface="Georgia" pitchFamily="34" charset="-122"/>
                <a:cs typeface="Georgia" pitchFamily="34" charset="-120"/>
              </a:rPr>
              <a:t>Evidence Map: Hypothesis Status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3200400"/>
        </p:xfrm>
        <a:graphic>
          <a:graphicData uri="http://schemas.openxmlformats.org/drawingml/2006/table">
            <a:tbl>
              <a:tblPr/>
              <a:tblGrid>
                <a:gridCol w="1828800"/>
                <a:gridCol w="640080"/>
                <a:gridCol w="2743200"/>
                <a:gridCol w="3200400"/>
              </a:tblGrid>
              <a:tr h="40005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Hypothesis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Primary Evidence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Connection to Title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744"/>
                    </a:solidFill>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H1: Trigrams = pakad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Trigrams rank #1 across all settings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'How we hear' = characteristic phrases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H2: Structure not timbre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MFCC below random chance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Raga is a structural concept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H3: Cognitive parsimony</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216d peak, &gt;216d hurts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Few salient cues, not exhaustive processing</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H4: Musicological kinship</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Confusion matrix analysis needed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Model errors should be musically sensible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H5: Dwell = vadi</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16d at 53%, beats 120d PCD</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Note emphasis is a cognitive cue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H6: Direction marginal</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408d directional &lt; 200d trigram</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Negative result explained by gamaka</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0005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H7: Context improves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+6.3% track vs segment (10 ragas)</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Evidence accumulation over time</a:t>
                      </a:r>
                      <a:endParaRPr lang="en-US" sz="1000" dirty="0">
                        <a:latin typeface="Calibri" charset="0"/>
                        <a:ea typeface="Calibri" charset="0"/>
                        <a:cs typeface="Calibri"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4389120"/>
            <a:ext cx="8046720" cy="36576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Every hypothesis connects a specific experimental result to the title question: how does raga recognition actually work?</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744"/>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D4A843"/>
          </a:solidFill>
          <a:ln/>
        </p:spPr>
      </p:sp>
      <p:sp>
        <p:nvSpPr>
          <p:cNvPr id="3" name="Text 1"/>
          <p:cNvSpPr/>
          <p:nvPr/>
        </p:nvSpPr>
        <p:spPr>
          <a:xfrm>
            <a:off x="548640" y="274320"/>
            <a:ext cx="8046720" cy="594360"/>
          </a:xfrm>
          <a:prstGeom prst="rect">
            <a:avLst/>
          </a:prstGeom>
          <a:noFill/>
          <a:ln/>
        </p:spPr>
        <p:txBody>
          <a:bodyPr wrap="square" lIns="0" tIns="0" rIns="0" bIns="0" rtlCol="0" anchor="ctr"/>
          <a:lstStyle/>
          <a:p>
            <a:pPr indent="0" marL="0">
              <a:buNone/>
            </a:pPr>
            <a:r>
              <a:rPr lang="en-US" sz="3000" b="1" dirty="0">
                <a:solidFill>
                  <a:srgbClr val="D4A843"/>
                </a:solidFill>
                <a:latin typeface="Georgia" pitchFamily="34" charset="0"/>
                <a:ea typeface="Georgia" pitchFamily="34" charset="-122"/>
                <a:cs typeface="Georgia" pitchFamily="34" charset="-120"/>
              </a:rPr>
              <a:t>Next Steps</a:t>
            </a:r>
            <a:endParaRPr lang="en-US" sz="3000" dirty="0"/>
          </a:p>
        </p:txBody>
      </p:sp>
      <p:sp>
        <p:nvSpPr>
          <p:cNvPr id="4" name="Shape 2"/>
          <p:cNvSpPr/>
          <p:nvPr/>
        </p:nvSpPr>
        <p:spPr>
          <a:xfrm>
            <a:off x="548640" y="1051560"/>
            <a:ext cx="8046720" cy="621792"/>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5" name="Shape 3"/>
          <p:cNvSpPr/>
          <p:nvPr/>
        </p:nvSpPr>
        <p:spPr>
          <a:xfrm>
            <a:off x="548640" y="1051560"/>
            <a:ext cx="54864" cy="621792"/>
          </a:xfrm>
          <a:prstGeom prst="rect">
            <a:avLst/>
          </a:prstGeom>
          <a:solidFill>
            <a:srgbClr val="D4A843"/>
          </a:solidFill>
          <a:ln/>
        </p:spPr>
      </p:sp>
      <p:sp>
        <p:nvSpPr>
          <p:cNvPr id="6" name="Text 4"/>
          <p:cNvSpPr/>
          <p:nvPr/>
        </p:nvSpPr>
        <p:spPr>
          <a:xfrm>
            <a:off x="777240" y="1051560"/>
            <a:ext cx="502920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Confusion Matrix Analysis (H4)</a:t>
            </a:r>
            <a:endParaRPr lang="en-US" sz="1300" dirty="0"/>
          </a:p>
        </p:txBody>
      </p:sp>
      <p:sp>
        <p:nvSpPr>
          <p:cNvPr id="7" name="Text 5"/>
          <p:cNvSpPr/>
          <p:nvPr/>
        </p:nvSpPr>
        <p:spPr>
          <a:xfrm>
            <a:off x="777240" y="1362456"/>
            <a:ext cx="5943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Map misclassifications to melakarta-janya hierarchy. Compute within-family vs between-family confusion rates.</a:t>
            </a:r>
            <a:endParaRPr lang="en-US" sz="1000" dirty="0"/>
          </a:p>
        </p:txBody>
      </p:sp>
      <p:sp>
        <p:nvSpPr>
          <p:cNvPr id="8" name="Text 6"/>
          <p:cNvSpPr/>
          <p:nvPr/>
        </p:nvSpPr>
        <p:spPr>
          <a:xfrm>
            <a:off x="6583680" y="1051560"/>
            <a:ext cx="1920240" cy="621792"/>
          </a:xfrm>
          <a:prstGeom prst="rect">
            <a:avLst/>
          </a:prstGeom>
          <a:noFill/>
          <a:ln/>
        </p:spPr>
        <p:txBody>
          <a:bodyPr wrap="square" rtlCol="0" anchor="ctr"/>
          <a:lstStyle/>
          <a:p>
            <a:pPr algn="r" indent="0" marL="0">
              <a:buNone/>
            </a:pPr>
            <a:r>
              <a:rPr lang="en-US" sz="1100" dirty="0">
                <a:solidFill>
                  <a:srgbClr val="D4A843"/>
                </a:solidFill>
                <a:latin typeface="Calibri" pitchFamily="34" charset="0"/>
                <a:ea typeface="Calibri" pitchFamily="34" charset="-122"/>
                <a:cs typeface="Calibri" pitchFamily="34" charset="-120"/>
              </a:rPr>
              <a:t>This week</a:t>
            </a:r>
            <a:endParaRPr lang="en-US" sz="1100" dirty="0"/>
          </a:p>
        </p:txBody>
      </p:sp>
      <p:sp>
        <p:nvSpPr>
          <p:cNvPr id="9" name="Shape 7"/>
          <p:cNvSpPr/>
          <p:nvPr/>
        </p:nvSpPr>
        <p:spPr>
          <a:xfrm>
            <a:off x="548640" y="1801368"/>
            <a:ext cx="8046720" cy="621792"/>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10" name="Shape 8"/>
          <p:cNvSpPr/>
          <p:nvPr/>
        </p:nvSpPr>
        <p:spPr>
          <a:xfrm>
            <a:off x="548640" y="1801368"/>
            <a:ext cx="54864" cy="621792"/>
          </a:xfrm>
          <a:prstGeom prst="rect">
            <a:avLst/>
          </a:prstGeom>
          <a:solidFill>
            <a:srgbClr val="D4A843"/>
          </a:solidFill>
          <a:ln/>
        </p:spPr>
      </p:sp>
      <p:sp>
        <p:nvSpPr>
          <p:cNvPr id="11" name="Text 9"/>
          <p:cNvSpPr/>
          <p:nvPr/>
        </p:nvSpPr>
        <p:spPr>
          <a:xfrm>
            <a:off x="777240" y="1801368"/>
            <a:ext cx="502920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Tonic Error Propagation Study</a:t>
            </a:r>
            <a:endParaRPr lang="en-US" sz="1300" dirty="0"/>
          </a:p>
        </p:txBody>
      </p:sp>
      <p:sp>
        <p:nvSpPr>
          <p:cNvPr id="12" name="Text 10"/>
          <p:cNvSpPr/>
          <p:nvPr/>
        </p:nvSpPr>
        <p:spPr>
          <a:xfrm>
            <a:off x="777240" y="2112264"/>
            <a:ext cx="5943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Compare accuracy for good tonic (&lt;50c) vs bad tonic. Quantify how much error comes from Stage 3.</a:t>
            </a:r>
            <a:endParaRPr lang="en-US" sz="1000" dirty="0"/>
          </a:p>
        </p:txBody>
      </p:sp>
      <p:sp>
        <p:nvSpPr>
          <p:cNvPr id="13" name="Text 11"/>
          <p:cNvSpPr/>
          <p:nvPr/>
        </p:nvSpPr>
        <p:spPr>
          <a:xfrm>
            <a:off x="6583680" y="1801368"/>
            <a:ext cx="1920240" cy="621792"/>
          </a:xfrm>
          <a:prstGeom prst="rect">
            <a:avLst/>
          </a:prstGeom>
          <a:noFill/>
          <a:ln/>
        </p:spPr>
        <p:txBody>
          <a:bodyPr wrap="square" rtlCol="0" anchor="ctr"/>
          <a:lstStyle/>
          <a:p>
            <a:pPr algn="r" indent="0" marL="0">
              <a:buNone/>
            </a:pPr>
            <a:r>
              <a:rPr lang="en-US" sz="1100" dirty="0">
                <a:solidFill>
                  <a:srgbClr val="D4A843"/>
                </a:solidFill>
                <a:latin typeface="Calibri" pitchFamily="34" charset="0"/>
                <a:ea typeface="Calibri" pitchFamily="34" charset="-122"/>
                <a:cs typeface="Calibri" pitchFamily="34" charset="-120"/>
              </a:rPr>
              <a:t>This week</a:t>
            </a:r>
            <a:endParaRPr lang="en-US" sz="1100" dirty="0"/>
          </a:p>
        </p:txBody>
      </p:sp>
      <p:sp>
        <p:nvSpPr>
          <p:cNvPr id="14" name="Shape 12"/>
          <p:cNvSpPr/>
          <p:nvPr/>
        </p:nvSpPr>
        <p:spPr>
          <a:xfrm>
            <a:off x="548640" y="2551176"/>
            <a:ext cx="8046720" cy="621792"/>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15" name="Shape 13"/>
          <p:cNvSpPr/>
          <p:nvPr/>
        </p:nvSpPr>
        <p:spPr>
          <a:xfrm>
            <a:off x="548640" y="2551176"/>
            <a:ext cx="54864" cy="621792"/>
          </a:xfrm>
          <a:prstGeom prst="rect">
            <a:avLst/>
          </a:prstGeom>
          <a:solidFill>
            <a:srgbClr val="D4A843"/>
          </a:solidFill>
          <a:ln/>
        </p:spPr>
      </p:sp>
      <p:sp>
        <p:nvSpPr>
          <p:cNvPr id="16" name="Text 14"/>
          <p:cNvSpPr/>
          <p:nvPr/>
        </p:nvSpPr>
        <p:spPr>
          <a:xfrm>
            <a:off x="777240" y="2551176"/>
            <a:ext cx="502920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Trigram Interpretability</a:t>
            </a:r>
            <a:endParaRPr lang="en-US" sz="1300" dirty="0"/>
          </a:p>
        </p:txBody>
      </p:sp>
      <p:sp>
        <p:nvSpPr>
          <p:cNvPr id="17" name="Text 15"/>
          <p:cNvSpPr/>
          <p:nvPr/>
        </p:nvSpPr>
        <p:spPr>
          <a:xfrm>
            <a:off x="777240" y="2862072"/>
            <a:ext cx="5943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Extract top trigrams per raga. Match to known pakad patterns from musicological literature.</a:t>
            </a:r>
            <a:endParaRPr lang="en-US" sz="1000" dirty="0"/>
          </a:p>
        </p:txBody>
      </p:sp>
      <p:sp>
        <p:nvSpPr>
          <p:cNvPr id="18" name="Text 16"/>
          <p:cNvSpPr/>
          <p:nvPr/>
        </p:nvSpPr>
        <p:spPr>
          <a:xfrm>
            <a:off x="6583680" y="2551176"/>
            <a:ext cx="1920240" cy="621792"/>
          </a:xfrm>
          <a:prstGeom prst="rect">
            <a:avLst/>
          </a:prstGeom>
          <a:noFill/>
          <a:ln/>
        </p:spPr>
        <p:txBody>
          <a:bodyPr wrap="square" rtlCol="0" anchor="ctr"/>
          <a:lstStyle/>
          <a:p>
            <a:pPr algn="r" indent="0" marL="0">
              <a:buNone/>
            </a:pPr>
            <a:r>
              <a:rPr lang="en-US" sz="1100" dirty="0">
                <a:solidFill>
                  <a:srgbClr val="D4A843"/>
                </a:solidFill>
                <a:latin typeface="Calibri" pitchFamily="34" charset="0"/>
                <a:ea typeface="Calibri" pitchFamily="34" charset="-122"/>
                <a:cs typeface="Calibri" pitchFamily="34" charset="-120"/>
              </a:rPr>
              <a:t>Week 7</a:t>
            </a:r>
            <a:endParaRPr lang="en-US" sz="1100" dirty="0"/>
          </a:p>
        </p:txBody>
      </p:sp>
      <p:sp>
        <p:nvSpPr>
          <p:cNvPr id="19" name="Shape 17"/>
          <p:cNvSpPr/>
          <p:nvPr/>
        </p:nvSpPr>
        <p:spPr>
          <a:xfrm>
            <a:off x="548640" y="3300984"/>
            <a:ext cx="8046720" cy="621792"/>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20" name="Shape 18"/>
          <p:cNvSpPr/>
          <p:nvPr/>
        </p:nvSpPr>
        <p:spPr>
          <a:xfrm>
            <a:off x="548640" y="3300984"/>
            <a:ext cx="54864" cy="621792"/>
          </a:xfrm>
          <a:prstGeom prst="rect">
            <a:avLst/>
          </a:prstGeom>
          <a:solidFill>
            <a:srgbClr val="D4A843"/>
          </a:solidFill>
          <a:ln/>
        </p:spPr>
      </p:sp>
      <p:sp>
        <p:nvSpPr>
          <p:cNvPr id="21" name="Text 19"/>
          <p:cNvSpPr/>
          <p:nvPr/>
        </p:nvSpPr>
        <p:spPr>
          <a:xfrm>
            <a:off x="777240" y="3300984"/>
            <a:ext cx="502920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Cross-Tradition Future Work</a:t>
            </a:r>
            <a:endParaRPr lang="en-US" sz="1300" dirty="0"/>
          </a:p>
        </p:txBody>
      </p:sp>
      <p:sp>
        <p:nvSpPr>
          <p:cNvPr id="22" name="Text 20"/>
          <p:cNvSpPr/>
          <p:nvPr/>
        </p:nvSpPr>
        <p:spPr>
          <a:xfrm>
            <a:off x="777240" y="3611880"/>
            <a:ext cx="5943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Discuss applying pipeline to Hindustani music as validation of generalisation.</a:t>
            </a:r>
            <a:endParaRPr lang="en-US" sz="1000" dirty="0"/>
          </a:p>
        </p:txBody>
      </p:sp>
      <p:sp>
        <p:nvSpPr>
          <p:cNvPr id="23" name="Text 21"/>
          <p:cNvSpPr/>
          <p:nvPr/>
        </p:nvSpPr>
        <p:spPr>
          <a:xfrm>
            <a:off x="6583680" y="3300984"/>
            <a:ext cx="1920240" cy="621792"/>
          </a:xfrm>
          <a:prstGeom prst="rect">
            <a:avLst/>
          </a:prstGeom>
          <a:noFill/>
          <a:ln/>
        </p:spPr>
        <p:txBody>
          <a:bodyPr wrap="square" rtlCol="0" anchor="ctr"/>
          <a:lstStyle/>
          <a:p>
            <a:pPr algn="r" indent="0" marL="0">
              <a:buNone/>
            </a:pPr>
            <a:r>
              <a:rPr lang="en-US" sz="1100" dirty="0">
                <a:solidFill>
                  <a:srgbClr val="D4A843"/>
                </a:solidFill>
                <a:latin typeface="Calibri" pitchFamily="34" charset="0"/>
                <a:ea typeface="Calibri" pitchFamily="34" charset="-122"/>
                <a:cs typeface="Calibri" pitchFamily="34" charset="-120"/>
              </a:rPr>
              <a:t>Week 7 - To discuss</a:t>
            </a:r>
            <a:endParaRPr lang="en-US" sz="1100" dirty="0"/>
          </a:p>
        </p:txBody>
      </p:sp>
      <p:sp>
        <p:nvSpPr>
          <p:cNvPr id="24" name="Shape 22"/>
          <p:cNvSpPr/>
          <p:nvPr/>
        </p:nvSpPr>
        <p:spPr>
          <a:xfrm>
            <a:off x="548640" y="4050792"/>
            <a:ext cx="8046720" cy="621792"/>
          </a:xfrm>
          <a:prstGeom prst="rect">
            <a:avLst/>
          </a:prstGeom>
          <a:solidFill>
            <a:srgbClr val="1E3055"/>
          </a:solidFill>
          <a:ln/>
          <a:effectLst>
            <a:outerShdw sx="100000" sy="100000" kx="0" ky="0" algn="bl" rotWithShape="0" blurRad="50800" dist="25400" dir="8100000">
              <a:srgbClr val="000000">
                <a:alpha val="10000"/>
              </a:srgbClr>
            </a:outerShdw>
          </a:effectLst>
        </p:spPr>
      </p:sp>
      <p:sp>
        <p:nvSpPr>
          <p:cNvPr id="25" name="Shape 23"/>
          <p:cNvSpPr/>
          <p:nvPr/>
        </p:nvSpPr>
        <p:spPr>
          <a:xfrm>
            <a:off x="548640" y="4050792"/>
            <a:ext cx="54864" cy="621792"/>
          </a:xfrm>
          <a:prstGeom prst="rect">
            <a:avLst/>
          </a:prstGeom>
          <a:solidFill>
            <a:srgbClr val="D4A843"/>
          </a:solidFill>
          <a:ln/>
        </p:spPr>
      </p:sp>
      <p:sp>
        <p:nvSpPr>
          <p:cNvPr id="26" name="Text 24"/>
          <p:cNvSpPr/>
          <p:nvPr/>
        </p:nvSpPr>
        <p:spPr>
          <a:xfrm>
            <a:off x="777240" y="4050792"/>
            <a:ext cx="502920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Dissertation Writing</a:t>
            </a:r>
            <a:endParaRPr lang="en-US" sz="1300" dirty="0"/>
          </a:p>
        </p:txBody>
      </p:sp>
      <p:sp>
        <p:nvSpPr>
          <p:cNvPr id="27" name="Text 25"/>
          <p:cNvSpPr/>
          <p:nvPr/>
        </p:nvSpPr>
        <p:spPr>
          <a:xfrm>
            <a:off x="777240" y="4361688"/>
            <a:ext cx="59436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Grounded in cognitive science: Saffran, Pearce (IDyOM), Burns &amp; Ward, Castellano et al.</a:t>
            </a:r>
            <a:endParaRPr lang="en-US" sz="1000" dirty="0"/>
          </a:p>
        </p:txBody>
      </p:sp>
      <p:sp>
        <p:nvSpPr>
          <p:cNvPr id="28" name="Text 26"/>
          <p:cNvSpPr/>
          <p:nvPr/>
        </p:nvSpPr>
        <p:spPr>
          <a:xfrm>
            <a:off x="6583680" y="4050792"/>
            <a:ext cx="1920240" cy="621792"/>
          </a:xfrm>
          <a:prstGeom prst="rect">
            <a:avLst/>
          </a:prstGeom>
          <a:noFill/>
          <a:ln/>
        </p:spPr>
        <p:txBody>
          <a:bodyPr wrap="square" rtlCol="0" anchor="ctr"/>
          <a:lstStyle/>
          <a:p>
            <a:pPr algn="r" indent="0" marL="0">
              <a:buNone/>
            </a:pPr>
            <a:r>
              <a:rPr lang="en-US" sz="1100" dirty="0">
                <a:solidFill>
                  <a:srgbClr val="D4A843"/>
                </a:solidFill>
                <a:latin typeface="Calibri" pitchFamily="34" charset="0"/>
                <a:ea typeface="Calibri" pitchFamily="34" charset="-122"/>
                <a:cs typeface="Calibri" pitchFamily="34" charset="-120"/>
              </a:rPr>
              <a:t>Weeks 8-9</a:t>
            </a:r>
            <a:endParaRPr lang="en-US" sz="1100" dirty="0"/>
          </a:p>
        </p:txBody>
      </p:sp>
      <p:sp>
        <p:nvSpPr>
          <p:cNvPr id="29" name="Shape 27"/>
          <p:cNvSpPr/>
          <p:nvPr/>
        </p:nvSpPr>
        <p:spPr>
          <a:xfrm>
            <a:off x="0" y="4846320"/>
            <a:ext cx="9144000" cy="297180"/>
          </a:xfrm>
          <a:prstGeom prst="rect">
            <a:avLst/>
          </a:prstGeom>
          <a:solidFill>
            <a:srgbClr val="1B6B7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We Hear a Raga? - Week 6 Update</dc:title>
  <dc:subject>PptxGenJS Presentation</dc:subject>
  <dc:creator>Krishna Vinod</dc:creator>
  <cp:lastModifiedBy>Krishna Vinod</cp:lastModifiedBy>
  <cp:revision>1</cp:revision>
  <dcterms:created xsi:type="dcterms:W3CDTF">2026-02-27T04:33:31Z</dcterms:created>
  <dcterms:modified xsi:type="dcterms:W3CDTF">2026-02-27T04:33:31Z</dcterms:modified>
</cp:coreProperties>
</file>