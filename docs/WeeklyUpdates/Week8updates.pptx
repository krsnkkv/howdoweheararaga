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25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27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slide. GT tonic: 60% seg. Estimated tonic: drops to 43%. Excluding 9 bad-tonic tracks recovers to 51.6% seg / 67.4% track. The classifier itself works - the bottleneck is tonic estimation. 9 tracks have specific failure modes: Pa-&gt;Sa (fifth error) and Ma-&gt;Sa (fourth error). Report frames this as a quantified limitation,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fixes attempted. Demucs: deep learning source separation, Western-trained, failed on Carnatic. HPSS: signal processing, fixed some but broke more. pYIN vocal fallback: most practical, uses cleaner source. Bad-tonic exclusion: our primary evaluation condition. No single fix solves tonic estimation - it remains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Two-stage hierarchical: route to family, then distinguish siblings. Doesn't help. Kamas drops 42-&gt;25%. The problem is siblings share the same note vocabulary. You need gamaka-level continuous pitch features. Informative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inventory of everything tested. Six hypotheses: H1-H5 confirmed, H6 informative negative. Five negative results documented. Three formal ablations. Four case studies including cross-tradition. This slide is the evidence that evaluation is comprehensive.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1 and 2 are complete. The three-pillar framing (Musical/Cognitive/ML) established in the intro runs through the entire report. The lit review maps each pillar to key papers. The interpretability gap (2.4) is the motivation for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core sections. Design (Sec 3): star is the feature-cognition mapping table. Results (Sec 4): star is hypothesis-driven analysis H1-H6. Discussion (Sec 5): deepest section with 7 subsections including cross-tradition and the dwell-vs-trigram inversion explanation. All prose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answers with a qualified yes. Appendices are the main gap - all placeholder. Timeline: appendices this weekend, polish next week, submit March 27. Inspector discussion is 50% of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Refinements &amp;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Structure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8 Update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Krishnasree </a:t>
            </a:r>
            <a:r>
              <a:rPr lang="en-US" sz="1400" dirty="0" err="1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Tonic Estimation: The Pipeline Bottleneck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0" cy="260604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Tonic Conditions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4663440" cy="11704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tonic (ablation)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(all tracks)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(excl. bad tonic)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2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606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17pp seg accuracy drop from GT to estimated tonic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bad-tonic tracks: Pa-&gt;Sa (fifth error), Ma-&gt;Sa (fourth error)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868680"/>
            <a:ext cx="30175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5760720" y="868680"/>
            <a:ext cx="64008" cy="26060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598932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89320" y="12801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works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seg with correct tonic shows the features and model are sound.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upstream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estimation errors corrupt all downstream swara mappings.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honestly in report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limitation, not hidden. ~20% octave errors, 52% data loss from voiced filter.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1965960" cy="4572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45720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60%→43%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7200" y="4343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accuracy drop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0604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5"/>
          <p:cNvSpPr/>
          <p:nvPr/>
        </p:nvSpPr>
        <p:spPr>
          <a:xfrm>
            <a:off x="2606040" y="3749040"/>
            <a:ext cx="1965960" cy="45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260604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2606040" y="4343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 error rate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9"/>
          <p:cNvSpPr/>
          <p:nvPr/>
        </p:nvSpPr>
        <p:spPr>
          <a:xfrm>
            <a:off x="4754880" y="3749040"/>
            <a:ext cx="1965960" cy="45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475488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754880" y="4343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(voiced filter)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0372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3"/>
          <p:cNvSpPr/>
          <p:nvPr/>
        </p:nvSpPr>
        <p:spPr>
          <a:xfrm>
            <a:off x="6903720" y="3749040"/>
            <a:ext cx="1965960" cy="45720"/>
          </a:xfrm>
          <a:prstGeom prst="rect">
            <a:avLst/>
          </a:prstGeom>
          <a:solidFill>
            <a:srgbClr val="2B8A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4"/>
          <p:cNvSpPr/>
          <p:nvPr/>
        </p:nvSpPr>
        <p:spPr>
          <a:xfrm>
            <a:off x="6903720" y="3840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9/73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903720" y="4343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Bad-tonic tracks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Attempted Fixes for Tonic Estimation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4572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Demucs Vocal Separation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9601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source separation (Western-trained) to isolate vocals before tonic estimation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1/9 bad tracks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model doesn't transfer to Carnatic vocal timbre - gamakas confuse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4572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89204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HPSS Harmonic Separation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9601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/ Not viable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processing: separate harmonic from percussive components, estimate tonic from harmonic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4/9 bad tracks, broke 10+ good 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dropped 87% to 74% - over-separates, removing vocal content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4023360" cy="45720"/>
          </a:xfrm>
          <a:prstGeom prst="rect">
            <a:avLst/>
          </a:prstGeom>
          <a:solidFill>
            <a:srgbClr val="2B8A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pYIN Vocal-Track Fallback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29718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improvement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dedicated vocal track first (from SARAGA), fall back to audio mix. Uses pYIN pitch 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b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source signal when vocal track available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practical fix - uses best available audio without adding model complexity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4754880" y="2880360"/>
            <a:ext cx="4023360" cy="4572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89204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Bad-Tonic Track Exclusion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29718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condition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exclude 9 tracks with systematic tonic errors (Pa-&gt;Sa, Ma-&gt;Sa failure modes)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-&gt; 51.6% seg, 51% -&gt; 67.4% trk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evaluation: don't penalise classifier for upstream errors, but report data loss (73-&gt;46 tracks)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640080" y="4709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 silver bullet for tonic estimation. Best approach: vocal-track fallback + exclude known failures + frame as limitation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Classification: Why It Failed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Family Routing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on directional_pcd features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1 of 9 melakarta families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accuracy: 76-93% per fold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10515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-&gt;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18872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937760" y="914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Within-Family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on directional_transition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siblings within family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multi-raga families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3210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7955280" cy="1645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Bhairavi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Harikambhoji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Kambhoji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640080" y="4709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39.3% misrouting  |  60.7% within-family confusion  |  Gamaka-level features needed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Experiments, Ablations &amp; Hypotheses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206240" cy="420624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Hypotheses (H1-H6)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411480" cy="25603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2161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 capture pakad (characteristic phrases)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12161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84048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411480" cy="25603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18105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not timbre encodes raga (MFCC fails)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181051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384048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411480" cy="25603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40080" y="24231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404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Parsimony: 16d dwell beats 216d trigram at 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7640" y="24048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384048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0080" y="3017520"/>
            <a:ext cx="411480" cy="25603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640080" y="301752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999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follows melakarta kinship (p=0.0004)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77640" y="29992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384048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640080" y="3611880"/>
            <a:ext cx="411480" cy="256032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35935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Dwell-time captures vadi emphasis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35935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023360"/>
            <a:ext cx="384048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411480" cy="256032"/>
          </a:xfrm>
          <a:prstGeom prst="rect">
            <a:avLst/>
          </a:prstGeom>
          <a:solidFill>
            <a:srgbClr val="74421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1879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encoding improves classification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41879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777240"/>
            <a:ext cx="38862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4892040" y="777240"/>
            <a:ext cx="54864" cy="42062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5120640" y="8229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&amp; Ablations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20640" y="12344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14630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Phrase-aware trigrams (catastrophic failure)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20640" y="16916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4-grams (15.8% seg - vocabulary too sparse)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20640" y="19202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538d (curse of dimensionality)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20640" y="21488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(42.6% seg, fold range 24.6-68.5%)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20640" y="23774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classifier (misrouting dominates)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20640" y="2697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0640" y="29260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source: GT vs estimated vs excluded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20640" y="31546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contribution: +1.6% seg, 0% trk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20640" y="33832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10-raga vs 14-raga subsets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20640" y="36118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vs LSTM comparison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20640" y="39319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41605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Bhairavi (&gt;0.80 F1) - strong pakad signal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20640" y="43891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Harikambhoji (0%) - parent melakarta problem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20640" y="46177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Kamas paradox (7 tracks, 0.36 F1)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20640" y="484632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Hindustani cross-tradition winner flip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Report: Introduction &amp; Background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397764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(pp 5-6)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Research Question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interpretable ML pipeline mirror the cognitive process of raga recognition in Carnatic music?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The Three Pillars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(raga grammar, pakad, gamaka)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(categorical perception, statistical learning)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(interpretable features vs black-box)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Contributions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feature pipeline, hypothesis-driven evaluation framework, cross-tradition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9776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54864" cy="3977640"/>
          </a:xfrm>
          <a:prstGeom prst="rect">
            <a:avLst/>
          </a:prstGeom>
          <a:solidFill>
            <a:srgbClr val="2B8A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937760" y="9601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93776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960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Lit Review (pp 6-8)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Raga: Structure, Grammar &amp; Identity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Melakarta system, pakad, gamaka, vadi/samvadi. What makes a raga a raga.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Cognitive Foundations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Castellano et al. (1984) tonal hierarchies; Saffran et al. (1996) statistical learning; Pearce (2005) expectation.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Computational Approaches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Chordia &amp; Rae (2007) PCD; Gulati et al. (2016) phrase-based VSM; Singh &amp; Arora (2024) ExAI raga.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0690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The Interpretability Gap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4343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are accurate but opaque. No cognitive grounding. This is the gap we fill.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Report: Design, Results &amp;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97480" cy="502920"/>
          </a:xfrm>
          <a:prstGeom prst="rect">
            <a:avLst/>
          </a:prstGeom>
          <a:solidFill>
            <a:srgbClr val="2B8A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Design &amp; 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8-10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5146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Dataset: SARAGA Carnatic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Feature-Cognition Map *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Classification &amp; Eval Design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Key Implementation Decisions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Star section: maps each feature to its musical AND cognitive grounding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777240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337560" y="777240"/>
            <a:ext cx="2697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342900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Results &amp;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02412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11-13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Feature Comparison (primary table)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Hypothesis-Driven Analysis *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Negative Results &amp; Failures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Tonic Source Ablation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Per-Raga Case Studies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4160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Star section: H1-H6 each with claim, evidence, verdict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6974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6217920" y="777240"/>
            <a:ext cx="2697480" cy="5029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30936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02412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14-16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2514600" cy="2432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Two Mechanisms of Recognition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Dwell vs Trigram Inversion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Why SVM Outperforms LSTM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Prior Work Comparison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Cross-Tradition Validation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Limitations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Future 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41605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analysis: cognitive inference, musicological explanation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Report: Conclusion &amp; Remaining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0" cy="2560320"/>
          </a:xfrm>
          <a:prstGeom prst="rect">
            <a:avLst/>
          </a:prstGeom>
          <a:solidFill>
            <a:srgbClr val="2D374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(p 16)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D4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qualified yes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mirrors cognitive processing: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 capture pakad-like phrase learning (Saffran)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captures vadi emphasis (Castellano/Krumhansl)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because: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 estimation bottleneck limits real-world deployment</a:t>
            </a:r>
            <a:endParaRPr lang="en-US" sz="13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Melakarta confusion ceiling needs gamaka features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4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Three-pillar synthesis: Musical + Cognitive + ML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868680"/>
            <a:ext cx="3017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54864" cy="256032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98932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9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Appendices (placeholder)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89320" y="1325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Confusion Matrices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15270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generate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Full Fold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9842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extract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2240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Pipeline Configuration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441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document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Dashboard Screenshots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8986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Timeline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2697480" cy="45720"/>
          </a:xfrm>
          <a:prstGeom prst="rect">
            <a:avLst/>
          </a:prstGeom>
          <a:solidFill>
            <a:srgbClr val="2B8A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Sunday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Appendices, dashboard screenshots, verify 19 bib keys, rephrase content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406908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3337560" y="4069080"/>
            <a:ext cx="2697480" cy="45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342900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16-20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polish, proofreading, commit/push to GitLab, inspector talking points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069080"/>
            <a:ext cx="2697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6217920" y="4069080"/>
            <a:ext cx="2697480" cy="45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30936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Mar 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389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report, external longer document, inspector discussion prep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Microsoft Office PowerPoint</Application>
  <PresentationFormat>On-screen Show (16:9)</PresentationFormat>
  <Paragraphs>235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Update - Pipeline Refinements &amp; Report Structure</dc:title>
  <dc:subject>PptxGenJS Presentation</dc:subject>
  <dc:creator>Krishnasree Kelat</dc:creator>
  <cp:lastModifiedBy>Krishnasree Kelath (MEng Comp Sci/SW Eng FT)</cp:lastModifiedBy>
  <cp:revision>3</cp:revision>
  <dcterms:created xsi:type="dcterms:W3CDTF">2026-03-13T04:02:15Z</dcterms:created>
  <dcterms:modified xsi:type="dcterms:W3CDTF">2026-03-26T12:18:46Z</dcterms:modified>
</cp:coreProperties>
</file>