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283" y="7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How Do We Hear a Raga?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ADCFC"/>
                </a:solidFill>
                <a:latin typeface="Calibri"/>
              </a:defRPr>
            </a:pPr>
            <a:r>
              <a:t>An Interpretable Cognitive Model of Melodic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rPr dirty="0"/>
              <a:t>Krishnasree Kelath  |  2540124  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698480" cy="731520"/>
          </a:xfrm>
          <a:prstGeom prst="rect">
            <a:avLst/>
          </a:prstGeom>
          <a:solidFill>
            <a:srgbClr val="2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Are the features that cognitive theory predicts listeners rely on the same features that best classify ragas computationally?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3291840" cy="1645920"/>
          </a:xfrm>
          <a:prstGeom prst="rect">
            <a:avLst/>
          </a:prstGeom>
          <a:solidFill>
            <a:srgbClr val="2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  <a:latin typeface="Calibri"/>
              </a:defRPr>
            </a:pPr>
            <a:r>
              <a:t>Musical Theory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Raga = melodic grammar, not just a scale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Pakad (phrases), gamaka (ornaments),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vadi/samvadi (note hierarchy)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926080"/>
            <a:ext cx="3291840" cy="1645920"/>
          </a:xfrm>
          <a:prstGeom prst="rect">
            <a:avLst/>
          </a:prstGeom>
          <a:solidFill>
            <a:srgbClr val="2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3063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  <a:latin typeface="Calibri"/>
              </a:defRPr>
            </a:pPr>
            <a:r>
              <a:t>Cognitive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4747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Statistical learning (Saffran) -&gt; trigrams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Tonal hierarchies (Castellano) -&gt; dwell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Categorical pitch perception -&gt; swara bins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2926080"/>
            <a:ext cx="3291840" cy="1645920"/>
          </a:xfrm>
          <a:prstGeom prst="rect">
            <a:avLst/>
          </a:prstGeom>
          <a:solidFill>
            <a:srgbClr val="2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4747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6-stage pipeline, 7 feature families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GroupKFold (Sturm: no data leakage)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6 hypotheses (H1-H6)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46320"/>
            <a:ext cx="10698480" cy="1737360"/>
          </a:xfrm>
          <a:prstGeom prst="rect">
            <a:avLst/>
          </a:prstGeom>
          <a:solidFill>
            <a:srgbClr val="2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6167"/>
                </a:solidFill>
                <a:latin typeface="Calibri"/>
              </a:defRPr>
            </a:pPr>
            <a:r>
              <a:t>Gap in Existing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6167"/>
                </a:solidFill>
                <a:latin typeface="Calibri"/>
              </a:defRPr>
            </a:pPr>
            <a:r>
              <a:t>Koduri / Rao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Pitch class distributions — interpretable but discard sequential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349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6167"/>
                </a:solidFill>
                <a:latin typeface="Calibri"/>
              </a:defRPr>
            </a:pPr>
            <a:r>
              <a:t>Gulati (2016)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Deep CNN on time-delay melody — accurate but black-box, no musical explanation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5215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6167"/>
                </a:solidFill>
                <a:latin typeface="Calibri"/>
              </a:defRPr>
            </a:pPr>
            <a:r>
              <a:t>Singh (2023)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8521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Post-hoc explainability on neural nets — explains where, not what or why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85215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6167"/>
                </a:solidFill>
                <a:latin typeface="Calibri"/>
              </a:defRPr>
            </a:pPr>
            <a:r>
              <a:t>Sturm (2014)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8521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MIR systems learn recording artefacts, not music — motivates GroupKFold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  <a:latin typeface="Calibri"/>
              </a:defRPr>
            </a:pPr>
            <a:r>
              <a:t>Pipeline &amp; Feature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  <a:latin typeface="Calibri"/>
              </a:defRPr>
            </a:pPr>
            <a:r>
              <a:t>6-Stage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91640"/>
            <a:ext cx="73152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16916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1. Preprocess: resample 22050 Hz, 45s windows / 15s hop, exclude ragamalika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377440"/>
            <a:ext cx="73152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3774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2. Pitch: CREPE (deep CNN, polyphonic-robust) + pYIN fallback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063240"/>
            <a:ext cx="73152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3. Tonic: smoothed harmonic scoring (Sa + Pa + Sa' energy)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749039"/>
            <a:ext cx="73152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3749039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4. Swara Mapping: 12 bins x 100 cents, 40-cent tolerance, glide exclusion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434840"/>
            <a:ext cx="73152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4348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5. Features: trigrams (top 200), dwell-time, PCD, transitions, directional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5120640"/>
            <a:ext cx="73152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51206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6. Classify: SVM-RBF + GroupKFold + majority voting -&gt; track prediction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09728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  <a:latin typeface="Calibri"/>
              </a:defRPr>
            </a:pPr>
            <a:r>
              <a:t>7 Feature Families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64592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dwell_vadi (16d)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645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Duration per swara + vadi/samvadi flags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16459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96167"/>
                </a:solidFill>
                <a:latin typeface="Calibri"/>
              </a:defRPr>
            </a:pPr>
            <a:r>
              <a:t>Castellano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202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trigram (200d)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920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Top-200 swara trigram frequencies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192024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96167"/>
                </a:solidFill>
                <a:latin typeface="Calibri"/>
              </a:defRPr>
            </a:pPr>
            <a:r>
              <a:t>Saffran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1945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trigram_dwell (216d)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1945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Trigrams + dwell combined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21945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96167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468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pcd (120d)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468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10-cent pitch class 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24688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96167"/>
                </a:solidFill>
                <a:latin typeface="Calibri"/>
              </a:defRPr>
            </a:pPr>
            <a:r>
              <a:t>Koduri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74320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pcd_trigram (320d)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743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PCD + trigrams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27432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96167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01752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directional_pcd (408d)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017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Ascending/descending split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30175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96167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29183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mfcc (40d)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Spectral envelope (timbral baseline)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18520" y="3291839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96167"/>
                </a:solidFill>
                <a:latin typeface="Calibri"/>
              </a:defRPr>
            </a:pPr>
            <a:r>
              <a:t>Peretz</a:t>
            </a:r>
          </a:p>
        </p:txBody>
      </p:sp>
      <p:pic>
        <p:nvPicPr>
          <p:cNvPr id="40" name="Picture 39" descr="14_Angakaram__00000_swa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840480"/>
            <a:ext cx="5303520" cy="2560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400800" y="6400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Figure: Swara mapping — continuous pitch to categorical tokens (Stage 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Results, 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Key Results (13 ragas, 46 tracks, estimated tonic)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1097280"/>
          </a:xfrm>
          <a:prstGeom prst="rect">
            <a:avLst/>
          </a:prstGeom>
          <a:solidFill>
            <a:srgbClr val="2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6167"/>
                </a:solidFill>
                <a:latin typeface="Calibri"/>
              </a:defRPr>
            </a:pPr>
            <a:r>
              <a:t>69.6%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Track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CFC"/>
                </a:solidFill>
                <a:latin typeface="Calibri"/>
              </a:defRPr>
            </a:pPr>
            <a:r>
              <a:t>dwell_vadi — just 16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39" y="1280160"/>
            <a:ext cx="2286000" cy="1097280"/>
          </a:xfrm>
          <a:prstGeom prst="rect">
            <a:avLst/>
          </a:prstGeom>
          <a:solidFill>
            <a:srgbClr val="2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8999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6167"/>
                </a:solidFill>
                <a:latin typeface="Calibri"/>
              </a:defRPr>
            </a:pPr>
            <a:r>
              <a:t>58pp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9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Above MFCC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8999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CFC"/>
                </a:solidFill>
                <a:latin typeface="Calibri"/>
              </a:defRPr>
            </a:pPr>
            <a:r>
              <a:t>Raga is structural, not timbral (H2)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2286000" cy="1097280"/>
          </a:xfrm>
          <a:prstGeom prst="rect">
            <a:avLst/>
          </a:prstGeom>
          <a:solidFill>
            <a:srgbClr val="2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6167"/>
                </a:solidFill>
                <a:latin typeface="Calibri"/>
              </a:defRPr>
            </a:pPr>
            <a:r>
              <a:t>24pp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Above BiLSTM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83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CFC"/>
                </a:solidFill>
                <a:latin typeface="Calibri"/>
              </a:defRPr>
            </a:pPr>
            <a:r>
              <a:t>Cognitive features &gt; learned (H3)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39" y="2651760"/>
            <a:ext cx="2286000" cy="1097280"/>
          </a:xfrm>
          <a:prstGeom prst="rect">
            <a:avLst/>
          </a:prstGeom>
          <a:solidFill>
            <a:srgbClr val="2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8999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6167"/>
                </a:solidFill>
                <a:latin typeface="Calibri"/>
              </a:defRPr>
            </a:pPr>
            <a:r>
              <a:t>3.27x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8999" y="3154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Family Confusion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8999" y="3383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CFC"/>
                </a:solidFill>
                <a:latin typeface="Calibri"/>
              </a:defRPr>
            </a:pPr>
            <a:r>
              <a:t>Within &gt; between, p=0.0004 (H4)</a:t>
            </a:r>
          </a:p>
        </p:txBody>
      </p:sp>
      <p:pic>
        <p:nvPicPr>
          <p:cNvPr id="20" name="Picture 19" descr="cm_SVM_dwell_va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0"/>
            <a:ext cx="2468880" cy="228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dwell_vadi: 69.6%</a:t>
            </a:r>
          </a:p>
        </p:txBody>
      </p:sp>
      <p:pic>
        <p:nvPicPr>
          <p:cNvPr id="22" name="Picture 21" descr="cm_SVM_mf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4114800"/>
            <a:ext cx="2468880" cy="2286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29184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96167"/>
                </a:solidFill>
                <a:latin typeface="Calibri"/>
              </a:defRPr>
            </a:pPr>
            <a:r>
              <a:t>MFCC: 10.9% (near random)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822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6167"/>
                </a:solidFill>
                <a:latin typeface="Calibri"/>
              </a:defRPr>
            </a:pPr>
            <a:r>
              <a:t>Hypothesis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234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8C5A"/>
                </a:solidFill>
                <a:latin typeface="Calibri"/>
              </a:defRPr>
            </a:pPr>
            <a:r>
              <a:t>H1 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Trigrams encode pakad (seq &gt; PCD by 7pp)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554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8C5A"/>
                </a:solidFill>
                <a:latin typeface="Calibri"/>
              </a:defRPr>
            </a:pPr>
            <a:r>
              <a:t>H2 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Structural not timbral (MFCC = random)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87451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8C5A"/>
                </a:solidFill>
                <a:latin typeface="Calibri"/>
              </a:defRPr>
            </a:pPr>
            <a:r>
              <a:t>H3 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Parsimony: 16d &gt; 216d &gt; 408d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1945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8C5A"/>
                </a:solidFill>
                <a:latin typeface="Calibri"/>
              </a:defRPr>
            </a:pPr>
            <a:r>
              <a:t>H4 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Confusion follows melakarta kinship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514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8C5A"/>
                </a:solidFill>
                <a:latin typeface="Calibri"/>
              </a:defRPr>
            </a:pPr>
            <a:r>
              <a:t>H5 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Dwell-time captures vadi emphasis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834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6167"/>
                </a:solidFill>
                <a:latin typeface="Calibri"/>
              </a:defRPr>
            </a:pPr>
            <a:r>
              <a:t>H6 -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Directional uninformative (gamakas blur ascent/descent)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291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6167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703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-&gt;  Tonic ceiling 87% — polyphonic audio, violin Pa confusion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02335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-&gt;  Small dataset: 73 tracks, 13 ragas, 14.6:1 class imbalance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343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-&gt;  Equal-tempered bins lose raga-specific micro-intonation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663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-&gt;  Token collapse discards gamaka contour (Harikambhoji 0%)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9834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-&gt;  Cognitive claims = correlation, not behavioural experiments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394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6167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8064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-&gt;  Vocal source separation -&gt; lift tonic ceiling beyond 87%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6080759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-&gt;  Gamaka-aware features -&gt; fix Harikambhoji family confusion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6355079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-&gt;  Larger dataset + more ragas for statistical power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66294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-&gt;  Hindustani cross-tradition validation (pilot complete)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586</Words>
  <Application>Microsoft Office PowerPoint</Application>
  <PresentationFormat>Widescreen</PresentationFormat>
  <Paragraphs>96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Krishnasree Kelath (MEng Comp Sci/SW Eng FT)</cp:lastModifiedBy>
  <cp:revision>3</cp:revision>
  <dcterms:created xsi:type="dcterms:W3CDTF">2013-01-27T09:14:16Z</dcterms:created>
  <dcterms:modified xsi:type="dcterms:W3CDTF">2026-03-26T12:35:37Z</dcterms:modified>
  <cp:category/>
</cp:coreProperties>
</file>