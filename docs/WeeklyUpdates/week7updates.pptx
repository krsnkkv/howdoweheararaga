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7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4894" autoAdjust="0"/>
  </p:normalViewPr>
  <p:slideViewPr>
    <p:cSldViewPr snapToGrid="0" snapToObjects="1">
      <p:cViewPr varScale="1">
        <p:scale>
          <a:sx n="111" d="100"/>
          <a:sy n="111" d="100"/>
        </p:scale>
        <p:origin x="1157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SVM (flat)</c:v>
                </c:pt>
              </c:strCache>
            </c:strRef>
          </c:tx>
          <c:spPr>
            <a:solidFill>
              <a:srgbClr val="1E2A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Fold 1</c:v>
                </c:pt>
                <c:pt idx="1">
                  <c:v>Fold 2</c:v>
                </c:pt>
                <c:pt idx="2">
                  <c:v>Fold 3</c:v>
                </c:pt>
                <c:pt idx="3">
                  <c:v>Fold 4</c:v>
                </c:pt>
                <c:pt idx="4">
                  <c:v>Fold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77.5</c:v>
                </c:pt>
                <c:pt idx="1">
                  <c:v>52.6</c:v>
                </c:pt>
                <c:pt idx="2">
                  <c:v>41.8</c:v>
                </c:pt>
                <c:pt idx="3">
                  <c:v>52.3</c:v>
                </c:pt>
                <c:pt idx="4">
                  <c:v>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A4-4AF6-84E3-A73D00A608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BiLSTM</c:v>
                </c:pt>
              </c:strCache>
            </c:strRef>
          </c:tx>
          <c:spPr>
            <a:solidFill>
              <a:srgbClr val="C469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Fold 1</c:v>
                </c:pt>
                <c:pt idx="1">
                  <c:v>Fold 2</c:v>
                </c:pt>
                <c:pt idx="2">
                  <c:v>Fold 3</c:v>
                </c:pt>
                <c:pt idx="3">
                  <c:v>Fold 4</c:v>
                </c:pt>
                <c:pt idx="4">
                  <c:v>Fold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68.5</c:v>
                </c:pt>
                <c:pt idx="1">
                  <c:v>24.6</c:v>
                </c:pt>
                <c:pt idx="2">
                  <c:v>31.8</c:v>
                </c:pt>
                <c:pt idx="3">
                  <c:v>50.1</c:v>
                </c:pt>
                <c:pt idx="4">
                  <c:v>37.799999999999997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A4-4AF6-84E3-A73D00A608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</c:scaling>
        <c:delete val="0"/>
        <c:axPos val="l"/>
        <c:majorGridlines>
          <c:spPr>
            <a:ln w="6350" cap="flat">
              <a:solidFill>
                <a:srgbClr val="E5E0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794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MFCC Accuracy got worse – It wasn’t 8.2, instead was 5.0% which is worse than random; </a:t>
            </a:r>
            <a:r>
              <a:rPr lang="en-US" dirty="0" err="1"/>
              <a:t>Strenghtens</a:t>
            </a:r>
            <a:r>
              <a:rPr lang="en-US" dirty="0"/>
              <a:t> H2</a:t>
            </a:r>
          </a:p>
          <a:p>
            <a:pPr marL="171450" indent="-171450">
              <a:buFontTx/>
              <a:buChar char="-"/>
            </a:pPr>
            <a:r>
              <a:rPr lang="en-US" dirty="0"/>
              <a:t>Dwell doesn’t add 6 percentage points. It adds 1.6 at segment level, and zero at track; It was a miscalculation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H4 is stronger after </a:t>
            </a:r>
            <a:r>
              <a:rPr lang="en-US" dirty="0" err="1"/>
              <a:t>hierarchial</a:t>
            </a:r>
            <a:r>
              <a:rPr lang="en-US" dirty="0"/>
              <a:t> classification for </a:t>
            </a:r>
            <a:r>
              <a:rPr lang="en-US" dirty="0" err="1"/>
              <a:t>Harikamboji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of our 14 ragas belong to this one </a:t>
            </a:r>
            <a:r>
              <a:rPr lang="en-US" dirty="0" err="1"/>
              <a:t>melakarta</a:t>
            </a:r>
            <a:r>
              <a:rPr lang="en-US" dirty="0"/>
              <a:t> family - </a:t>
            </a:r>
            <a:r>
              <a:rPr lang="en-US" dirty="0" err="1"/>
              <a:t>Begada</a:t>
            </a:r>
            <a:r>
              <a:rPr lang="en-US" dirty="0"/>
              <a:t>, </a:t>
            </a:r>
            <a:r>
              <a:rPr lang="en-US" dirty="0" err="1"/>
              <a:t>Harikambhoji</a:t>
            </a:r>
            <a:r>
              <a:rPr lang="en-US" dirty="0"/>
              <a:t> itself, Kamas, </a:t>
            </a:r>
            <a:r>
              <a:rPr lang="en-US" dirty="0" err="1"/>
              <a:t>Kambhoji</a:t>
            </a:r>
            <a:r>
              <a:rPr lang="en-US" dirty="0"/>
              <a:t>, and Mohanam.</a:t>
            </a:r>
          </a:p>
          <a:p>
            <a:r>
              <a:rPr lang="en-US" dirty="0"/>
              <a:t>This is </a:t>
            </a:r>
            <a:r>
              <a:rPr lang="en-US" dirty="0" err="1"/>
              <a:t>musicologically</a:t>
            </a:r>
            <a:r>
              <a:rPr lang="en-US" dirty="0"/>
              <a:t> predictable. </a:t>
            </a:r>
          </a:p>
          <a:p>
            <a:r>
              <a:rPr lang="en-US" dirty="0"/>
              <a:t>The parent </a:t>
            </a:r>
            <a:r>
              <a:rPr lang="en-US" dirty="0" err="1"/>
              <a:t>melakarta</a:t>
            </a:r>
            <a:r>
              <a:rPr lang="en-US" dirty="0"/>
              <a:t> uses all its notes neutrally </a:t>
            </a:r>
          </a:p>
          <a:p>
            <a:r>
              <a:rPr lang="en-US" dirty="0"/>
              <a:t> it doesn't 'own' any distinctive phrases. </a:t>
            </a:r>
          </a:p>
          <a:p>
            <a:r>
              <a:rPr lang="en-US" dirty="0"/>
              <a:t>Its </a:t>
            </a:r>
            <a:r>
              <a:rPr lang="en-US" dirty="0" err="1"/>
              <a:t>janyas</a:t>
            </a:r>
            <a:r>
              <a:rPr lang="en-US" dirty="0"/>
              <a:t> have taken the distinctive phrases for themselves.</a:t>
            </a:r>
          </a:p>
          <a:p>
            <a:r>
              <a:rPr lang="en-US" dirty="0"/>
              <a:t>This actually mirrors what musicians say - </a:t>
            </a:r>
            <a:r>
              <a:rPr lang="en-US" dirty="0" err="1"/>
              <a:t>Harikambhoji</a:t>
            </a:r>
            <a:r>
              <a:rPr lang="en-US" dirty="0"/>
              <a:t> is one of the hardest ragas to identify in performance."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Classifier </a:t>
            </a:r>
          </a:p>
          <a:p>
            <a:r>
              <a:rPr lang="en-US" dirty="0"/>
              <a:t>The takeaway is that routing to the correct family doesn't help when siblings share the same note vocabulary. The within-family problem is too severe at this feature level. To resolve these, you'd need </a:t>
            </a:r>
            <a:r>
              <a:rPr lang="en-US" dirty="0" err="1"/>
              <a:t>gamaka</a:t>
            </a:r>
            <a:r>
              <a:rPr lang="en-US" dirty="0"/>
              <a:t>-level features that capture the continuous pitch movements that distinguish these ragas - which is a finding about what our current features can't capture, and points toward future work.“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Why does SVM win? Three perspectives. Cognitively, the hand-crafted features encode the right inductive bias upfront - we've already told the model what to look for. Musically, </a:t>
            </a:r>
            <a:r>
              <a:rPr lang="en-US" dirty="0" err="1"/>
              <a:t>pakad</a:t>
            </a:r>
            <a:r>
              <a:rPr lang="en-US" dirty="0"/>
              <a:t> and </a:t>
            </a:r>
            <a:r>
              <a:rPr lang="en-US" dirty="0" err="1"/>
              <a:t>vadi</a:t>
            </a:r>
            <a:r>
              <a:rPr lang="en-US" dirty="0"/>
              <a:t> knowledge is baked into the 216 features rather than being discovered from data. From an ML perspective, feature engineering beats representation learning when you only have 2,107 samples and strict </a:t>
            </a:r>
            <a:r>
              <a:rPr lang="en-US" dirty="0" err="1"/>
              <a:t>GroupKFold</a:t>
            </a:r>
            <a:r>
              <a:rPr lang="en-US" dirty="0"/>
              <a:t> preventing any within-track leakage.“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- Post filtering dataset got smaller</a:t>
            </a:r>
          </a:p>
          <a:p>
            <a:pPr marL="171450" indent="-171450">
              <a:buFontTx/>
              <a:buChar char="-"/>
            </a:pPr>
            <a:r>
              <a:rPr lang="en-US" dirty="0"/>
              <a:t>Winner flipped; the dwell </a:t>
            </a:r>
            <a:r>
              <a:rPr lang="en-US" dirty="0" err="1"/>
              <a:t>vadi</a:t>
            </a:r>
            <a:r>
              <a:rPr lang="en-US" dirty="0"/>
              <a:t> lasted longer and the trigrams collapsed: that’s because Hindustani music focuses on sustain and length rather than phrase patterns. Carnatic is phrase driven with </a:t>
            </a:r>
            <a:r>
              <a:rPr lang="en-US" dirty="0" err="1"/>
              <a:t>gamakas</a:t>
            </a:r>
            <a:r>
              <a:rPr lang="en-US" dirty="0"/>
              <a:t>, Hindustani is emphasis driven with long sustain. </a:t>
            </a:r>
          </a:p>
          <a:p>
            <a:pPr marL="171450" indent="-171450">
              <a:buFontTx/>
              <a:buChar char="-"/>
            </a:pPr>
            <a:r>
              <a:rPr lang="en-US" dirty="0"/>
              <a:t>MFCCs are still below random + Track </a:t>
            </a:r>
            <a:r>
              <a:rPr lang="en-US" dirty="0" err="1"/>
              <a:t>levl</a:t>
            </a:r>
            <a:r>
              <a:rPr lang="en-US" dirty="0"/>
              <a:t> voting helps: H2/H7 can be confirmed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I'm framing this as preliminary cross-tradition validation in the report - a 2-paragraph discussion, not a whole chapter. The key narrative is: the pipeline transferred with zero changes, the cognitive features that matter shifted in a </a:t>
            </a:r>
            <a:r>
              <a:rPr lang="en-US" dirty="0" err="1"/>
              <a:t>musicologically</a:t>
            </a:r>
            <a:r>
              <a:rPr lang="en-US" dirty="0"/>
              <a:t> predictable way, and the universal findings - MFCC failure and evidence accumulation - hold across traditions."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next steps, I have a clear timeline. Today I'm correcting the results table and writing Section 4 with verified numbers, plus adding the Hindustani discussion. Tomorrow is the tonic error propagation study and trigram interpretability - matching top trigrams per raga to known </a:t>
            </a:r>
            <a:r>
              <a:rPr lang="en-US" dirty="0" err="1"/>
              <a:t>pakad</a:t>
            </a:r>
            <a:r>
              <a:rPr lang="en-US" dirty="0"/>
              <a:t> patterns from the literature. By the end of this week I want a complete draft of all 6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51166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39231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53206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15984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73439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36898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12125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38765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4819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35764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359767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97860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989196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80189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36354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7229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24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929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  <p:sldLayoutId id="2147483879" r:id="rId12"/>
    <p:sldLayoutId id="2147483880" r:id="rId13"/>
    <p:sldLayoutId id="2147483881" r:id="rId14"/>
    <p:sldLayoutId id="2147483882" r:id="rId15"/>
    <p:sldLayoutId id="2147483883" r:id="rId16"/>
    <p:sldLayoutId id="2147483884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69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Analysis &amp;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Verification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Update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Krishnasree Kelat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69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259571" y="23317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Results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03649"/>
              </p:ext>
            </p:extLst>
          </p:nvPr>
        </p:nvGraphicFramePr>
        <p:xfrm>
          <a:off x="365760" y="1005840"/>
          <a:ext cx="8046719" cy="1950720"/>
        </p:xfrm>
        <a:graphic>
          <a:graphicData uri="http://schemas.openxmlformats.org/drawingml/2006/table">
            <a:tbl>
              <a:tblPr/>
              <a:tblGrid>
                <a:gridCol w="1924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732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Trk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8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trigram_dwell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overall (10-raga)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Dwell adds +1.6% seg only, 0% trk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dwell_vadi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for 16 dims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Pitch distribution alone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full_combined (14-raga)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Curse of dimensionality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BiLSTM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Folds: 24.6% - 68.5%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mfcc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random chance (7.1%)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65760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3"/>
          <p:cNvSpPr/>
          <p:nvPr/>
        </p:nvSpPr>
        <p:spPr>
          <a:xfrm>
            <a:off x="365760" y="3657600"/>
            <a:ext cx="2651760" cy="45720"/>
          </a:xfrm>
          <a:prstGeom prst="rect">
            <a:avLst/>
          </a:prstGeom>
          <a:solidFill>
            <a:srgbClr val="C469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4"/>
          <p:cNvSpPr/>
          <p:nvPr/>
        </p:nvSpPr>
        <p:spPr>
          <a:xfrm>
            <a:off x="502920" y="37673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Track Acc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4023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8.2%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D8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5.0%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worse - strengthens H2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365760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Shape 7"/>
          <p:cNvSpPr/>
          <p:nvPr/>
        </p:nvSpPr>
        <p:spPr>
          <a:xfrm>
            <a:off x="3246120" y="3657600"/>
            <a:ext cx="2651760" cy="45720"/>
          </a:xfrm>
          <a:prstGeom prst="rect">
            <a:avLst/>
          </a:prstGeom>
          <a:solidFill>
            <a:srgbClr val="C469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8"/>
          <p:cNvSpPr/>
          <p:nvPr/>
        </p:nvSpPr>
        <p:spPr>
          <a:xfrm>
            <a:off x="3383280" y="37673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Contribution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383280" y="4023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+6pp combined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D8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+1.6pp seg, 0pp trk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voting smooths it out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26480" y="365760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Shape 11"/>
          <p:cNvSpPr/>
          <p:nvPr/>
        </p:nvSpPr>
        <p:spPr>
          <a:xfrm>
            <a:off x="6126480" y="3657600"/>
            <a:ext cx="2651760" cy="45720"/>
          </a:xfrm>
          <a:prstGeom prst="rect">
            <a:avLst/>
          </a:prstGeom>
          <a:solidFill>
            <a:srgbClr val="C469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Text 12"/>
          <p:cNvSpPr/>
          <p:nvPr/>
        </p:nvSpPr>
        <p:spPr>
          <a:xfrm>
            <a:off x="6263640" y="37673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Harikambhoji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63640" y="4023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0.13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D8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0.0% flat &amp; hier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evidence for H4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69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218275" y="228600"/>
            <a:ext cx="873104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H4: Confusion Follows Melakarta Kinship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06240" cy="3474720"/>
          </a:xfrm>
          <a:prstGeom prst="rect">
            <a:avLst/>
          </a:prstGeom>
          <a:solidFill>
            <a:srgbClr val="1E2A4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206240" cy="45720"/>
          </a:xfrm>
          <a:prstGeom prst="rect">
            <a:avLst/>
          </a:prstGeom>
          <a:solidFill>
            <a:srgbClr val="C4694A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1155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Harikambhoji Family (5 of 14 ragas)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" y="1554480"/>
            <a:ext cx="3749040" cy="384048"/>
          </a:xfrm>
          <a:prstGeom prst="rect">
            <a:avLst/>
          </a:prstGeom>
          <a:solidFill>
            <a:srgbClr val="2A3F6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Shape 6"/>
          <p:cNvSpPr/>
          <p:nvPr/>
        </p:nvSpPr>
        <p:spPr>
          <a:xfrm>
            <a:off x="594360" y="1554480"/>
            <a:ext cx="54864" cy="3840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ext 7"/>
          <p:cNvSpPr/>
          <p:nvPr/>
        </p:nvSpPr>
        <p:spPr>
          <a:xfrm>
            <a:off x="777240" y="1554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Harikambhoji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331720" y="155448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017520" y="15544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melakarta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4360" y="2057400"/>
            <a:ext cx="3749040" cy="384048"/>
          </a:xfrm>
          <a:prstGeom prst="rect">
            <a:avLst/>
          </a:prstGeom>
          <a:solidFill>
            <a:srgbClr val="2A3F6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Shape 11"/>
          <p:cNvSpPr/>
          <p:nvPr/>
        </p:nvSpPr>
        <p:spPr>
          <a:xfrm>
            <a:off x="594360" y="2057400"/>
            <a:ext cx="54864" cy="38404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Text 12"/>
          <p:cNvSpPr/>
          <p:nvPr/>
        </p:nvSpPr>
        <p:spPr>
          <a:xfrm>
            <a:off x="777240" y="20574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Begada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331720" y="20574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41.9%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017520" y="20574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Janya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94360" y="2560320"/>
            <a:ext cx="3749040" cy="384048"/>
          </a:xfrm>
          <a:prstGeom prst="rect">
            <a:avLst/>
          </a:prstGeom>
          <a:solidFill>
            <a:srgbClr val="2A3F6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Shape 16"/>
          <p:cNvSpPr/>
          <p:nvPr/>
        </p:nvSpPr>
        <p:spPr>
          <a:xfrm>
            <a:off x="594360" y="2560320"/>
            <a:ext cx="54864" cy="38404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0" name="Text 17"/>
          <p:cNvSpPr/>
          <p:nvPr/>
        </p:nvSpPr>
        <p:spPr>
          <a:xfrm>
            <a:off x="777240" y="25603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331720" y="256032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42.1%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017520" y="25603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Janya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94360" y="3063240"/>
            <a:ext cx="3749040" cy="384048"/>
          </a:xfrm>
          <a:prstGeom prst="rect">
            <a:avLst/>
          </a:prstGeom>
          <a:solidFill>
            <a:srgbClr val="2A3F6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4" name="Shape 21"/>
          <p:cNvSpPr/>
          <p:nvPr/>
        </p:nvSpPr>
        <p:spPr>
          <a:xfrm>
            <a:off x="594360" y="3063240"/>
            <a:ext cx="54864" cy="3840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5" name="Text 22"/>
          <p:cNvSpPr/>
          <p:nvPr/>
        </p:nvSpPr>
        <p:spPr>
          <a:xfrm>
            <a:off x="777240" y="30632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Kambhoji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331720" y="30632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24.4%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017520" y="30632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Janya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94360" y="3566160"/>
            <a:ext cx="3749040" cy="384048"/>
          </a:xfrm>
          <a:prstGeom prst="rect">
            <a:avLst/>
          </a:prstGeom>
          <a:solidFill>
            <a:srgbClr val="2A3F6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9" name="Shape 26"/>
          <p:cNvSpPr/>
          <p:nvPr/>
        </p:nvSpPr>
        <p:spPr>
          <a:xfrm>
            <a:off x="594360" y="3566160"/>
            <a:ext cx="54864" cy="38404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0" name="Text 27"/>
          <p:cNvSpPr/>
          <p:nvPr/>
        </p:nvSpPr>
        <p:spPr>
          <a:xfrm>
            <a:off x="777240" y="35661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Mohanam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331720" y="356616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39.4%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3017520" y="35661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Janya (pentatonic)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846320" y="100584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4" name="Shape 31"/>
          <p:cNvSpPr/>
          <p:nvPr/>
        </p:nvSpPr>
        <p:spPr>
          <a:xfrm>
            <a:off x="4846320" y="1005840"/>
            <a:ext cx="3931920" cy="45720"/>
          </a:xfrm>
          <a:prstGeom prst="rect">
            <a:avLst/>
          </a:prstGeom>
          <a:solidFill>
            <a:srgbClr val="C469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5" name="Text 32"/>
          <p:cNvSpPr/>
          <p:nvPr/>
        </p:nvSpPr>
        <p:spPr>
          <a:xfrm>
            <a:off x="5029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Attribution (14-raga)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029200" y="13716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962 errors / 2,107 segments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029200" y="1600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39.3%</a:t>
            </a:r>
            <a:r>
              <a:rPr lang="en-US" sz="11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misrouted (wrong family)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60.7%</a:t>
            </a:r>
            <a:r>
              <a:rPr lang="en-US" sz="11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within-family confusion</a:t>
            </a:r>
            <a:endParaRPr lang="en-US" sz="2200" dirty="0"/>
          </a:p>
        </p:txBody>
      </p:sp>
      <p:sp>
        <p:nvSpPr>
          <p:cNvPr id="38" name="Shape 35"/>
          <p:cNvSpPr/>
          <p:nvPr/>
        </p:nvSpPr>
        <p:spPr>
          <a:xfrm>
            <a:off x="4846320" y="274320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9" name="Shape 36"/>
          <p:cNvSpPr/>
          <p:nvPr/>
        </p:nvSpPr>
        <p:spPr>
          <a:xfrm>
            <a:off x="4846320" y="2743200"/>
            <a:ext cx="54864" cy="1737360"/>
          </a:xfrm>
          <a:prstGeom prst="rect">
            <a:avLst/>
          </a:prstGeom>
          <a:solidFill>
            <a:srgbClr val="2A7B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0" name="Text 37"/>
          <p:cNvSpPr/>
          <p:nvPr/>
        </p:nvSpPr>
        <p:spPr>
          <a:xfrm>
            <a:off x="5074920" y="2834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074920" y="31089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Harikambhoji scores 0% in BOTH flat and hierarchical classifiers. The system cannot distinguish the parent from its children.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Musicologically predictable: </a:t>
            </a:r>
            <a:r>
              <a:rPr lang="en-US" sz="10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melakarta uses all notes neutrally. Its janyas 'own' the distinctive phrases. The parent has no signal because it IS the average of its children.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69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82591" y="228600"/>
            <a:ext cx="893752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Hierarchical Classification: Two-Stage Approach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743200" cy="1280160"/>
          </a:xfrm>
          <a:prstGeom prst="rect">
            <a:avLst/>
          </a:prstGeom>
          <a:solidFill>
            <a:srgbClr val="1E2A4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743200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Family Routing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on directional_pcd features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segments to 1 of 9 families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accuracy: 76-93% per fold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4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749040" y="1097280"/>
            <a:ext cx="2743200" cy="1280160"/>
          </a:xfrm>
          <a:prstGeom prst="rect">
            <a:avLst/>
          </a:prstGeom>
          <a:solidFill>
            <a:srgbClr val="1E2A4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3749040" y="1097280"/>
            <a:ext cx="2743200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3886200" y="1188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Within-Family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86200" y="15087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on directional_transition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siblings within family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matters for multi-raga families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1097280"/>
            <a:ext cx="2011680" cy="1280160"/>
          </a:xfrm>
          <a:prstGeom prst="rect">
            <a:avLst/>
          </a:prstGeom>
          <a:solidFill>
            <a:srgbClr val="FDECE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6766560" y="1097280"/>
            <a:ext cx="2011680" cy="457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6858000" y="1188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0" y="14630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improve over flat classification. Within-family confusion is too severe.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754363"/>
              </p:ext>
            </p:extLst>
          </p:nvPr>
        </p:nvGraphicFramePr>
        <p:xfrm>
          <a:off x="365760" y="2651760"/>
          <a:ext cx="6400800" cy="17068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Bhairavi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D8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Harikambhoji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B8B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highlight>
                            <a:srgbClr val="FFFF00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Kamas</a:t>
                      </a:r>
                      <a:endParaRPr lang="en-US" sz="1000" dirty="0">
                        <a:highlight>
                          <a:srgbClr val="FFFF00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highlight>
                            <a:srgbClr val="FFFF00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42.1%</a:t>
                      </a:r>
                      <a:endParaRPr lang="en-US" sz="1000" dirty="0">
                        <a:highlight>
                          <a:srgbClr val="FFFF00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highlight>
                            <a:srgbClr val="FFFF00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25.4%</a:t>
                      </a:r>
                      <a:endParaRPr lang="en-US" sz="1000" dirty="0">
                        <a:highlight>
                          <a:srgbClr val="FFFF00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highlight>
                            <a:srgbClr val="FFFF00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-16.7%</a:t>
                      </a:r>
                      <a:endParaRPr lang="en-US" sz="1000" dirty="0">
                        <a:highlight>
                          <a:srgbClr val="FFFF00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highlight>
                            <a:srgbClr val="FFFF00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000" dirty="0">
                        <a:highlight>
                          <a:srgbClr val="FFFF00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Kambhoji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D8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Mohanam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365760" y="4430419"/>
            <a:ext cx="8412480" cy="64008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Text 16"/>
          <p:cNvSpPr/>
          <p:nvPr/>
        </p:nvSpPr>
        <p:spPr>
          <a:xfrm>
            <a:off x="436552" y="4476139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Kamas drops 42.1% to 25.4% (-16.7pp). Routing to the correct family does not help when siblings share the same note vocabulary. Gamaka-level features needed.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69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274320" y="23317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SVM vs LSTM: Updated Fold Analysis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005840"/>
            <a:ext cx="32918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3"/>
          <p:cNvSpPr/>
          <p:nvPr/>
        </p:nvSpPr>
        <p:spPr>
          <a:xfrm>
            <a:off x="5577840" y="1005840"/>
            <a:ext cx="3291840" cy="45720"/>
          </a:xfrm>
          <a:prstGeom prst="rect">
            <a:avLst/>
          </a:prstGeom>
          <a:solidFill>
            <a:srgbClr val="C469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4"/>
          <p:cNvSpPr/>
          <p:nvPr/>
        </p:nvSpPr>
        <p:spPr>
          <a:xfrm>
            <a:off x="5715000" y="1097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Variance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0" y="137160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range: </a:t>
            </a: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35.7pp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range: </a:t>
            </a: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43.9pp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is more stable across data splits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77840" y="2560320"/>
            <a:ext cx="3291840" cy="2194560"/>
          </a:xfrm>
          <a:prstGeom prst="rect">
            <a:avLst/>
          </a:prstGeom>
          <a:solidFill>
            <a:srgbClr val="1E2A4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Shape 7"/>
          <p:cNvSpPr/>
          <p:nvPr/>
        </p:nvSpPr>
        <p:spPr>
          <a:xfrm>
            <a:off x="5577840" y="2560320"/>
            <a:ext cx="3291840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8"/>
          <p:cNvSpPr/>
          <p:nvPr/>
        </p:nvSpPr>
        <p:spPr>
          <a:xfrm>
            <a:off x="5715000" y="2651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SVM Wins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715000" y="2971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Expert-informed features encode the right inductive bias upfront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715000" y="3520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Musical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Pakad and vadi knowledge baked into 216 features, not learned from data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715000" y="4069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Feature engineering beats representation learning in low-data regimes (2,107 samples)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69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Progress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45720"/>
          </a:xfrm>
          <a:prstGeom prst="rect">
            <a:avLst/>
          </a:prstGeom>
          <a:solidFill>
            <a:srgbClr val="C469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(6 sections, ~18 pages)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463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166420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Q, Three Pillars, Contributions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1965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 &amp; Lit Review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22960" y="216712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Musical / Cognitive / ML / Gap</a:t>
            </a:r>
            <a:endParaRPr lang="en-US" sz="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1460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" y="2468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Design &amp; Implementation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822960" y="267004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Pipeline, Feature-Cognition Map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17520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2960" y="2971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Results &amp; Evaluation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822960" y="317296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comparison, H1-H7, Negatives</a:t>
            </a:r>
            <a:endParaRPr lang="en-US" sz="9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20440"/>
            <a:ext cx="182880" cy="1828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22960" y="3474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Discussion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822960" y="367588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implications, Limitations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82296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822960" y="417880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yes, key numbers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D9BAB23-75D2-4030-9FED-99443766AAD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3212" t="6576" b="1151"/>
          <a:stretch>
            <a:fillRect/>
          </a:stretch>
        </p:blipFill>
        <p:spPr>
          <a:xfrm>
            <a:off x="4709160" y="198734"/>
            <a:ext cx="3636952" cy="4746031"/>
          </a:xfrm>
          <a:prstGeom prst="rect">
            <a:avLst/>
          </a:prstGeom>
        </p:spPr>
      </p:pic>
      <p:pic>
        <p:nvPicPr>
          <p:cNvPr id="35" name="Image 4" descr="preencoded.png">
            <a:extLst>
              <a:ext uri="{FF2B5EF4-FFF2-40B4-BE49-F238E27FC236}">
                <a16:creationId xmlns:a16="http://schemas.microsoft.com/office/drawing/2014/main" id="{0DCC787F-B99E-67FD-B569-3CEF3E50E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23360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69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Cross-Tradition: Hindustani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60320" cy="1097280"/>
          </a:xfrm>
          <a:prstGeom prst="rect">
            <a:avLst/>
          </a:prstGeom>
          <a:solidFill>
            <a:srgbClr val="1E2A4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560320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ragas, 10 tracks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segments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chance = 14.3%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3200400" y="1005840"/>
          <a:ext cx="4206240" cy="17068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Trk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8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dwell_vadi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8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D8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D8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directional_pcd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trigram_dwell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mfcc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2331720"/>
            <a:ext cx="2560320" cy="1097280"/>
          </a:xfrm>
          <a:prstGeom prst="rect">
            <a:avLst/>
          </a:prstGeom>
          <a:solidFill>
            <a:srgbClr val="FEF3C7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Shape 7"/>
          <p:cNvSpPr/>
          <p:nvPr/>
        </p:nvSpPr>
        <p:spPr>
          <a:xfrm>
            <a:off x="365760" y="2331720"/>
            <a:ext cx="54864" cy="109728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8"/>
          <p:cNvSpPr/>
          <p:nvPr/>
        </p:nvSpPr>
        <p:spPr>
          <a:xfrm>
            <a:off x="548640" y="23774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Winner Flipped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26517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Carnatic: trigram wins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Hindustani: dwell wins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a real musicological difference between traditions.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3657600"/>
            <a:ext cx="2697480" cy="1188720"/>
          </a:xfrm>
          <a:prstGeom prst="rect">
            <a:avLst/>
          </a:prstGeom>
          <a:solidFill>
            <a:srgbClr val="1E2A4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Shape 11"/>
          <p:cNvSpPr/>
          <p:nvPr/>
        </p:nvSpPr>
        <p:spPr>
          <a:xfrm>
            <a:off x="365760" y="3657600"/>
            <a:ext cx="2697480" cy="45720"/>
          </a:xfrm>
          <a:prstGeom prst="rect">
            <a:avLst/>
          </a:prstGeom>
          <a:solidFill>
            <a:srgbClr val="C469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Text 12"/>
          <p:cNvSpPr/>
          <p:nvPr/>
        </p:nvSpPr>
        <p:spPr>
          <a:xfrm>
            <a:off x="502920" y="37490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40233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Hindustani emphasises note sustain and meend (glides) over phrase patterns. Dwell-time captures this emphasis-centric perception.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227832" y="3657600"/>
            <a:ext cx="2697480" cy="1188720"/>
          </a:xfrm>
          <a:prstGeom prst="rect">
            <a:avLst/>
          </a:prstGeom>
          <a:solidFill>
            <a:srgbClr val="1E2A4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8" name="Shape 15"/>
          <p:cNvSpPr/>
          <p:nvPr/>
        </p:nvSpPr>
        <p:spPr>
          <a:xfrm>
            <a:off x="3227832" y="3657600"/>
            <a:ext cx="2697480" cy="45720"/>
          </a:xfrm>
          <a:prstGeom prst="rect">
            <a:avLst/>
          </a:prstGeom>
          <a:solidFill>
            <a:srgbClr val="C469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Text 16"/>
          <p:cNvSpPr/>
          <p:nvPr/>
        </p:nvSpPr>
        <p:spPr>
          <a:xfrm>
            <a:off x="3364992" y="37490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364992" y="40233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Carnatic is phrase-driven (structured gamakas). Hindustani is emphasis-driven (long meend, sustain). The features that win reflect this difference.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089904" y="3657600"/>
            <a:ext cx="2697480" cy="1188720"/>
          </a:xfrm>
          <a:prstGeom prst="rect">
            <a:avLst/>
          </a:prstGeom>
          <a:solidFill>
            <a:srgbClr val="1E2A4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2" name="Shape 19"/>
          <p:cNvSpPr/>
          <p:nvPr/>
        </p:nvSpPr>
        <p:spPr>
          <a:xfrm>
            <a:off x="6089904" y="3657600"/>
            <a:ext cx="2697480" cy="45720"/>
          </a:xfrm>
          <a:prstGeom prst="rect">
            <a:avLst/>
          </a:prstGeom>
          <a:solidFill>
            <a:srgbClr val="C469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3" name="Text 20"/>
          <p:cNvSpPr/>
          <p:nvPr/>
        </p:nvSpPr>
        <p:spPr>
          <a:xfrm>
            <a:off x="6227064" y="37490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227064" y="40233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tracks makes trigram vocabulary too sparse. But dwell_vadi (16d) is robust even with minimal data - confirms extreme feature efficiency.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965" y="0"/>
            <a:ext cx="9144000" cy="54864"/>
          </a:xfrm>
          <a:prstGeom prst="rect">
            <a:avLst/>
          </a:prstGeom>
          <a:solidFill>
            <a:srgbClr val="C469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011680" cy="3200400"/>
          </a:xfrm>
          <a:prstGeom prst="rect">
            <a:avLst/>
          </a:prstGeom>
          <a:solidFill>
            <a:srgbClr val="2A3F6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011680" cy="45720"/>
          </a:xfrm>
          <a:prstGeom prst="rect">
            <a:avLst/>
          </a:prstGeom>
          <a:solidFill>
            <a:srgbClr val="2D8B5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8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results table in LaTeX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Section 4 with verified numbers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Hindustani as 2-paragraph discussion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42032" y="1097280"/>
            <a:ext cx="2011680" cy="3200400"/>
          </a:xfrm>
          <a:prstGeom prst="rect">
            <a:avLst/>
          </a:prstGeom>
          <a:solidFill>
            <a:srgbClr val="2A3F6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2542032" y="1097280"/>
            <a:ext cx="2011680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2679192" y="1188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79192" y="160020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Tonic error propagation study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Trigram interpretability - match to known pakad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Section 5 (Discussion)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18304" y="1097280"/>
            <a:ext cx="2011680" cy="3200400"/>
          </a:xfrm>
          <a:prstGeom prst="rect">
            <a:avLst/>
          </a:prstGeom>
          <a:solidFill>
            <a:srgbClr val="2A3F6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4718304" y="1097280"/>
            <a:ext cx="2011680" cy="45720"/>
          </a:xfrm>
          <a:prstGeom prst="rect">
            <a:avLst/>
          </a:prstGeom>
          <a:solidFill>
            <a:srgbClr val="C469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4855464" y="1188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55464" y="160020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full draft (all 6 sections)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confusion matrices to appendix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screenshots for appendix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94576" y="1097280"/>
            <a:ext cx="2011680" cy="3200400"/>
          </a:xfrm>
          <a:prstGeom prst="rect">
            <a:avLst/>
          </a:prstGeom>
          <a:solidFill>
            <a:srgbClr val="2A3F6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7" name="Shape 15"/>
          <p:cNvSpPr/>
          <p:nvPr/>
        </p:nvSpPr>
        <p:spPr>
          <a:xfrm>
            <a:off x="6894576" y="1097280"/>
            <a:ext cx="2011680" cy="45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7031736" y="1188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March 27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31736" y="160020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polish and proofreading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all citations in .bib file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report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16204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Complete draft March 20  |  Final submission March 27  |  Inspector discussion: 30 min on report content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251</TotalTime>
  <Words>1253</Words>
  <Application>Microsoft Office PowerPoint</Application>
  <PresentationFormat>On-screen Show (16:9)</PresentationFormat>
  <Paragraphs>243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Century Gothic</vt:lpstr>
      <vt:lpstr>Georgia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Error Analysis &amp; Results Update</dc:title>
  <dc:subject>PptxGenJS Presentation</dc:subject>
  <dc:creator>Krishnasree Kelath</dc:creator>
  <cp:lastModifiedBy>Krishnasree Kelath (MEng Comp Sci/SW Eng FT)</cp:lastModifiedBy>
  <cp:revision>8</cp:revision>
  <dcterms:created xsi:type="dcterms:W3CDTF">2026-03-06T00:56:21Z</dcterms:created>
  <dcterms:modified xsi:type="dcterms:W3CDTF">2026-03-06T10:50:14Z</dcterms:modified>
</cp:coreProperties>
</file>